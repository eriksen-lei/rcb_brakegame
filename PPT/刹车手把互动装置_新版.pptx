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大家好，今天为大家介绍一款全新的产品——刹车手把互动装置。这是一套基于 Arduino 平台的摩托车手把改装方案，能够将传统的刹车手把升级为具有数据反馈和游戏交互功能的高科技产品。本产品主要面向赛车模拟器玩家、电竞馆、桌游吧以及线下活动场景，预计 2026 年正式发布。</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介绍产品之前，我们先来看看当前市场中传统刹车手把存在的几个核心痛点。传统握把功能单一、缺乏反馈机制；无法显示实时的骑行姿态数据；缺乏交互性，无法参与游戏或模拟器；同时也不支持用户个性化定制。这些痛点极大限制了使用场景，导致用户体验较差，也为我们的产品创新提供了明确的市场机会。</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针对以上痛点，我们提出了三步核心方案。第一步是系统显示方案，保留原有手把结构，加装 3D 打印支架与传感组件，实现即装即用的兼容改装。第二步是 Arduino 智能控制，通过 Arduino Pro Micro 实现霍尔传感器信号的实时采集和处理。第三步是 USB HID 模拟游戏手柄，信号自动映射到手柄按键，即插即用，无需安装额外驱动。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下面我们来看具体的硬件方案。核心控制器选用 Arduino Pro Micro，其内置 ATmega32U4 主控芯片，天然支持 USB HID 协议。外壳支架采用 PLA+ 材质 3D 打印，能够精准贴合把手，并支持 logo 定制。角度检测使用 AH3505 或 A1302 线性霍尔元件，灵敏度高。触发磁铁使用圆形钕磁铁，免胶粘贴，可调节位置。整套系统工作原理是：手把旋转改变磁场强度，霍尔传感器产生模拟电压变化，Arduino ADC 采样后映射为游戏手柄信号值。</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我们设计了两大核心游戏模式。模式一是刹车映射模式，手把旋转角度直接对应油门踏板深度，行程范围 0 到 100%，支持灵敏度校准，特别适合 Assetto Corsa、iRacing、F1 系列等赛车游戏。模式二是改装战斗模式，按住手把开始蓄力，松开瞬间发动攻击，蓄力时间决定威力，支持双人即时对战。手把状态实时映射为游戏指令，延迟低于 5 毫秒，确保游戏体验的流畅性。</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接下来我们看完整的游戏流程。玩家首先在游戏大厅选择角色，进入准备阶段等待其他玩家就绪；游戏开始前三秒倒计时，主持人发起 3-2-1 倒计时；倒计时结束后玩家同时放刹车并旋转手把进入正式对决；最快完成任务的玩家获胜，系统显示结果。整个过程支持二维码配对，玩家手机扫描游戏房间二维码即可自动同步按键配置，无需手动设置。同时所有设备状态实时同步传输，服务器端统一判定，并具备防作弊机制。</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本产品的应用场景非常广泛。第一是赛车游戏场景，包括模拟赛车、街机赛车和摩托竞速类游戏，能够带来更加真实的沉浸式体验。第二是电竞馆，可部署 6 至 12 套设备进行统一管理和比赛。第三是桌游吧和体验店，以改装战斗模式为主，可以组织现场小比赛。第四是线下活动，包括摩托车展会互动展品、品牌发布会体验区、改装店引流设备等，能够带来良好的品牌曝光和引流效果。</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在配置选项方面，我们提供灵活的定制方案。手柄数量有标准配置 2P 双人对战，以及扩展配置 4P 以上多组扩展。颜色定制方面，标准配色提供 5 种经典色可选，品牌定制支持 logo 印刷服务。游戏模式有基础模式（刹车 + 改装 + 战斗三大模式）和高级定制（支持专项游戏定制开发）。此外我们还提供配套设备扩展，包括支持 1080P 和 4K 输出的显示设备、实时排行榜系统以及二维码扫码积分系统。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最后是交付清单。我们提供完整的硬件套件，包括 Arduino Pro Micro、3D 打印支座和霍尔传感器。软件系统包含 Arduino 固件、HID 驱动层和配置工具。配件包包括磁铁套装、USB 连接线和螺丝包。文档资料包括安装说明书、固件升级指南和常见问题解答。售后服务方面，我们提供在线技术支持微信群、固件持续更新、一年质保、定制开发服务、批量采购折扣以及 OEM/ODM 支持。欢迎联系咨询，期待与您合作。</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76200" cy="6858000"/>
          </a:xfrm>
          <a:prstGeom prst="rect">
            <a:avLst/>
          </a:prstGeom>
          <a:solidFill>
            <a:srgbClr val="1E3A5F"/>
          </a:solidFill>
          <a:ln>
            <a:noFill/>
          </a:ln>
        </p:spPr>
      </p:sp>
      <p:sp>
        <p:nvSpPr>
          <p:cNvPr id="4" name="Rectangle 4"/>
          <p:cNvSpPr/>
          <p:nvPr/>
        </p:nvSpPr>
        <p:spPr>
          <a:xfrm>
            <a:off x="571500" y="571500"/>
            <a:ext cx="11049000" cy="9525"/>
          </a:xfrm>
          <a:prstGeom prst="rect">
            <a:avLst/>
          </a:prstGeom>
          <a:solidFill>
            <a:srgbClr val="E5E7EB"/>
          </a:solidFill>
          <a:ln>
            <a:noFill/>
          </a:ln>
        </p:spPr>
      </p:sp>
      <p:sp>
        <p:nvSpPr>
          <p:cNvPr id="5" name="TextBox 5"/>
          <p:cNvSpPr txBox="1"/>
          <p:nvPr/>
        </p:nvSpPr>
        <p:spPr>
          <a:xfrm>
            <a:off x="712470" y="1674495"/>
            <a:ext cx="3566593" cy="792480"/>
          </a:xfrm>
          <a:prstGeom prst="rect">
            <a:avLst/>
          </a:prstGeom>
          <a:noFill/>
          <a:ln>
            <a:noFill/>
          </a:ln>
        </p:spPr>
        <p:txBody>
          <a:bodyPr wrap="none" lIns="0" tIns="0" rIns="0" bIns="0" anchor="t" anchorCtr="0">
            <a:spAutoFit/>
          </a:bodyPr>
          <a:lstStyle/>
          <a:p>
            <a:pPr algn="l"/>
            <a:r>
              <a:rPr lang="zh-CN" sz="3900" b="1" dirty="0">
                <a:solidFill>
                  <a:srgbClr val="1E3A5F"/>
                </a:solidFill>
                <a:latin typeface="Arial Black"/>
                <a:ea typeface="SimHei"/>
                <a:cs typeface="Arial Black"/>
              </a:rPr>
              <a:t>BRAKE HANDLE</a:t>
            </a:r>
          </a:p>
        </p:txBody>
      </p:sp>
      <p:sp>
        <p:nvSpPr>
          <p:cNvPr id="6" name="TextBox 6"/>
          <p:cNvSpPr txBox="1"/>
          <p:nvPr/>
        </p:nvSpPr>
        <p:spPr>
          <a:xfrm>
            <a:off x="712470" y="2293620"/>
            <a:ext cx="5204798" cy="792480"/>
          </a:xfrm>
          <a:prstGeom prst="rect">
            <a:avLst/>
          </a:prstGeom>
          <a:noFill/>
          <a:ln>
            <a:noFill/>
          </a:ln>
        </p:spPr>
        <p:txBody>
          <a:bodyPr wrap="none" lIns="0" tIns="0" rIns="0" bIns="0" anchor="t" anchorCtr="0">
            <a:spAutoFit/>
          </a:bodyPr>
          <a:lstStyle/>
          <a:p>
            <a:pPr algn="l"/>
            <a:r>
              <a:rPr lang="zh-CN" sz="3900" b="1" dirty="0">
                <a:solidFill>
                  <a:srgbClr val="1E3A5F"/>
                </a:solidFill>
                <a:latin typeface="Arial Black"/>
                <a:ea typeface="SimHei"/>
                <a:cs typeface="Arial Black"/>
              </a:rPr>
              <a:t>INTERACTIVE SYSTEM</a:t>
            </a:r>
          </a:p>
        </p:txBody>
      </p:sp>
      <p:sp>
        <p:nvSpPr>
          <p:cNvPr id="7" name="TextBox 7"/>
          <p:cNvSpPr txBox="1"/>
          <p:nvPr/>
        </p:nvSpPr>
        <p:spPr>
          <a:xfrm>
            <a:off x="739140" y="2948940"/>
            <a:ext cx="1965960" cy="365760"/>
          </a:xfrm>
          <a:prstGeom prst="rect">
            <a:avLst/>
          </a:prstGeom>
          <a:noFill/>
          <a:ln>
            <a:noFill/>
          </a:ln>
        </p:spPr>
        <p:txBody>
          <a:bodyPr wrap="none" lIns="0" tIns="0" rIns="0" bIns="0" anchor="t" anchorCtr="0">
            <a:spAutoFit/>
          </a:bodyPr>
          <a:lstStyle/>
          <a:p>
            <a:pPr algn="l"/>
            <a:r>
              <a:rPr lang="zh-CN" sz="1800" dirty="0">
                <a:solidFill>
                  <a:srgbClr val="6B7280"/>
                </a:solidFill>
                <a:latin typeface="Arial"/>
                <a:ea typeface="Microsoft YaHei"/>
                <a:cs typeface="Arial"/>
              </a:rPr>
              <a:t>刹车手把互动装置</a:t>
            </a:r>
          </a:p>
        </p:txBody>
      </p:sp>
      <p:sp>
        <p:nvSpPr>
          <p:cNvPr id="8" name="Rectangle 8"/>
          <p:cNvSpPr/>
          <p:nvPr/>
        </p:nvSpPr>
        <p:spPr>
          <a:xfrm>
            <a:off x="762000" y="3333750"/>
            <a:ext cx="1143000" cy="38100"/>
          </a:xfrm>
          <a:prstGeom prst="rect">
            <a:avLst/>
          </a:prstGeom>
          <a:solidFill>
            <a:srgbClr val="2563EB"/>
          </a:solidFill>
          <a:ln>
            <a:noFill/>
          </a:ln>
        </p:spPr>
      </p:sp>
      <p:sp>
        <p:nvSpPr>
          <p:cNvPr id="9" name="TextBox 9"/>
          <p:cNvSpPr txBox="1"/>
          <p:nvPr/>
        </p:nvSpPr>
        <p:spPr>
          <a:xfrm>
            <a:off x="746760" y="3680460"/>
            <a:ext cx="1814703" cy="243840"/>
          </a:xfrm>
          <a:prstGeom prst="rect">
            <a:avLst/>
          </a:prstGeom>
          <a:noFill/>
          <a:ln>
            <a:noFill/>
          </a:ln>
        </p:spPr>
        <p:txBody>
          <a:bodyPr wrap="none" lIns="0" tIns="0" rIns="0" bIns="0" anchor="t" anchorCtr="0">
            <a:spAutoFit/>
          </a:bodyPr>
          <a:lstStyle/>
          <a:p>
            <a:pPr algn="l"/>
            <a:r>
              <a:rPr lang="zh-CN" sz="1200" dirty="0">
                <a:solidFill>
                  <a:srgbClr val="9CA3AF"/>
                </a:solidFill>
                <a:latin typeface="Arial"/>
                <a:ea typeface="Microsoft YaHei"/>
                <a:cs typeface="Arial"/>
              </a:rPr>
              <a:t>产品改装方案 · 技术演示</a:t>
            </a:r>
          </a:p>
        </p:txBody>
      </p:sp>
      <p:sp>
        <p:nvSpPr>
          <p:cNvPr id="10" name="TextBox 10"/>
          <p:cNvSpPr txBox="1"/>
          <p:nvPr/>
        </p:nvSpPr>
        <p:spPr>
          <a:xfrm>
            <a:off x="749618" y="4942999"/>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发布年份</a:t>
            </a:r>
          </a:p>
        </p:txBody>
      </p:sp>
      <p:sp>
        <p:nvSpPr>
          <p:cNvPr id="11" name="TextBox 11"/>
          <p:cNvSpPr txBox="1"/>
          <p:nvPr/>
        </p:nvSpPr>
        <p:spPr>
          <a:xfrm>
            <a:off x="748665" y="5106352"/>
            <a:ext cx="350110"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Arial"/>
                <a:ea typeface="Microsoft YaHei"/>
                <a:cs typeface="Arial"/>
              </a:rPr>
              <a:t>2026</a:t>
            </a:r>
          </a:p>
        </p:txBody>
      </p:sp>
      <p:sp>
        <p:nvSpPr>
          <p:cNvPr id="12" name="TextBox 12"/>
          <p:cNvSpPr txBox="1"/>
          <p:nvPr/>
        </p:nvSpPr>
        <p:spPr>
          <a:xfrm>
            <a:off x="1892618" y="4942999"/>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适用车型</a:t>
            </a:r>
          </a:p>
        </p:txBody>
      </p:sp>
      <p:sp>
        <p:nvSpPr>
          <p:cNvPr id="13" name="TextBox 13"/>
          <p:cNvSpPr txBox="1"/>
          <p:nvPr/>
        </p:nvSpPr>
        <p:spPr>
          <a:xfrm>
            <a:off x="1891665" y="5106352"/>
            <a:ext cx="1364537"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Arial"/>
                <a:ea typeface="Microsoft YaHei"/>
                <a:cs typeface="Arial"/>
              </a:rPr>
              <a:t>RCB 全系 · 改装通用</a:t>
            </a:r>
          </a:p>
        </p:txBody>
      </p:sp>
      <p:sp>
        <p:nvSpPr>
          <p:cNvPr id="14" name="TextBox 14"/>
          <p:cNvSpPr txBox="1"/>
          <p:nvPr/>
        </p:nvSpPr>
        <p:spPr>
          <a:xfrm>
            <a:off x="3797618" y="4942999"/>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目标用户</a:t>
            </a:r>
          </a:p>
        </p:txBody>
      </p:sp>
      <p:sp>
        <p:nvSpPr>
          <p:cNvPr id="15" name="TextBox 15"/>
          <p:cNvSpPr txBox="1"/>
          <p:nvPr/>
        </p:nvSpPr>
        <p:spPr>
          <a:xfrm>
            <a:off x="3796665" y="5106352"/>
            <a:ext cx="1665925"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Arial"/>
                <a:ea typeface="Microsoft YaHei"/>
                <a:cs typeface="Arial"/>
              </a:rPr>
              <a:t>赛车模拟器玩家 · 电竞馆</a:t>
            </a:r>
          </a:p>
        </p:txBody>
      </p:sp>
      <p:sp>
        <p:nvSpPr>
          <p:cNvPr id="16" name="Rectangle 16"/>
          <p:cNvSpPr/>
          <p:nvPr/>
        </p:nvSpPr>
        <p:spPr>
          <a:xfrm>
            <a:off x="0" y="6477000"/>
            <a:ext cx="12192000" cy="381000"/>
          </a:xfrm>
          <a:prstGeom prst="rect">
            <a:avLst/>
          </a:prstGeom>
          <a:solidFill>
            <a:srgbClr val="F5F7FA"/>
          </a:solidFill>
          <a:ln>
            <a:noFill/>
          </a:ln>
        </p:spPr>
      </p:sp>
      <p:sp>
        <p:nvSpPr>
          <p:cNvPr id="17" name="Rectangle 17"/>
          <p:cNvSpPr/>
          <p:nvPr/>
        </p:nvSpPr>
        <p:spPr>
          <a:xfrm>
            <a:off x="0" y="6477000"/>
            <a:ext cx="76200" cy="381000"/>
          </a:xfrm>
          <a:prstGeom prst="rect">
            <a:avLst/>
          </a:prstGeom>
          <a:solidFill>
            <a:srgbClr val="2563EB"/>
          </a:solidFill>
          <a:ln>
            <a:noFill/>
          </a:ln>
        </p:spPr>
      </p:sp>
      <p:sp>
        <p:nvSpPr>
          <p:cNvPr id="18" name="TextBox 18"/>
          <p:cNvSpPr txBox="1"/>
          <p:nvPr/>
        </p:nvSpPr>
        <p:spPr>
          <a:xfrm>
            <a:off x="11046524" y="6627495"/>
            <a:ext cx="394906"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01 / 09</a:t>
            </a:r>
          </a:p>
        </p:txBody>
      </p:sp>
      <p:sp>
        <p:nvSpPr>
          <p:cNvPr id="19" name="Rectangle 19"/>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3158309"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BACKGROUND &amp; PAIN POINTS</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02 / 09</a:t>
            </a:r>
          </a:p>
        </p:txBody>
      </p:sp>
      <p:sp>
        <p:nvSpPr>
          <p:cNvPr id="6" name="Rectangle 6"/>
          <p:cNvSpPr/>
          <p:nvPr/>
        </p:nvSpPr>
        <p:spPr>
          <a:xfrm>
            <a:off x="571500" y="523875"/>
            <a:ext cx="762000" cy="28575"/>
          </a:xfrm>
          <a:prstGeom prst="rect">
            <a:avLst/>
          </a:prstGeom>
          <a:solidFill>
            <a:srgbClr val="2563EB"/>
          </a:solidFill>
          <a:ln>
            <a:noFill/>
          </a:ln>
        </p:spPr>
      </p:sp>
      <p:grpSp>
        <p:nvGrpSpPr>
          <p:cNvPr id="15" name="Group 15"/>
          <p:cNvGrpSpPr/>
          <p:nvPr/>
        </p:nvGrpSpPr>
        <p:grpSpPr>
          <a:xfrm>
            <a:off x="571500" y="857250"/>
            <a:ext cx="5191125" cy="1381125"/>
            <a:chOff x="571500" y="857250"/>
            <a:chExt cx="5191125" cy="1381125"/>
          </a:xfrm>
        </p:grpSpPr>
        <p:sp>
          <p:nvSpPr>
            <p:cNvPr id="7" name="Rectangle 7"/>
            <p:cNvSpPr/>
            <p:nvPr/>
          </p:nvSpPr>
          <p:spPr>
            <a:xfrm>
              <a:off x="571500" y="857250"/>
              <a:ext cx="5191125" cy="1381125"/>
            </a:xfrm>
            <a:prstGeom prst="roundRect">
              <a:avLst>
                <a:gd name="adj" fmla="val 5517"/>
              </a:avLst>
            </a:prstGeom>
            <a:solidFill>
              <a:srgbClr val="F5F7FA"/>
            </a:solidFill>
            <a:ln w="9525">
              <a:solidFill>
                <a:srgbClr val="E5E7EB"/>
              </a:solidFill>
            </a:ln>
          </p:spPr>
        </p:sp>
        <p:sp>
          <p:nvSpPr>
            <p:cNvPr id="8" name="Ellipse 8"/>
            <p:cNvSpPr/>
            <p:nvPr/>
          </p:nvSpPr>
          <p:spPr>
            <a:xfrm>
              <a:off x="781050" y="1066800"/>
              <a:ext cx="342900" cy="342900"/>
            </a:xfrm>
            <a:prstGeom prst="ellipse">
              <a:avLst/>
            </a:prstGeom>
            <a:solidFill>
              <a:srgbClr val="1E3A5F">
                <a:alpha val="90000"/>
              </a:srgbClr>
            </a:solidFill>
            <a:ln>
              <a:noFill/>
            </a:ln>
          </p:spPr>
        </p:sp>
        <p:sp>
          <p:nvSpPr>
            <p:cNvPr id="9" name="TextBox 9"/>
            <p:cNvSpPr txBox="1"/>
            <p:nvPr/>
          </p:nvSpPr>
          <p:spPr>
            <a:xfrm>
              <a:off x="865851" y="1156335"/>
              <a:ext cx="17329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01</a:t>
              </a:r>
            </a:p>
          </p:txBody>
        </p:sp>
        <p:sp>
          <p:nvSpPr>
            <p:cNvPr id="10" name="TextBox 10"/>
            <p:cNvSpPr txBox="1"/>
            <p:nvPr/>
          </p:nvSpPr>
          <p:spPr>
            <a:xfrm>
              <a:off x="1223010" y="1061085"/>
              <a:ext cx="702564"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传统握把</a:t>
              </a:r>
            </a:p>
          </p:txBody>
        </p:sp>
        <p:sp>
          <p:nvSpPr>
            <p:cNvPr id="11" name="TextBox 11"/>
            <p:cNvSpPr txBox="1"/>
            <p:nvPr/>
          </p:nvSpPr>
          <p:spPr>
            <a:xfrm>
              <a:off x="1226820" y="13315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握持手感单一</a:t>
              </a:r>
            </a:p>
          </p:txBody>
        </p:sp>
        <p:sp>
          <p:nvSpPr>
            <p:cNvPr id="12" name="TextBox 12"/>
            <p:cNvSpPr txBox="1"/>
            <p:nvPr/>
          </p:nvSpPr>
          <p:spPr>
            <a:xfrm>
              <a:off x="1226820" y="15220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缺乏反馈机制</a:t>
              </a:r>
            </a:p>
          </p:txBody>
        </p:sp>
        <p:sp>
          <p:nvSpPr>
            <p:cNvPr id="13" name="TextBox 13"/>
            <p:cNvSpPr txBox="1"/>
            <p:nvPr/>
          </p:nvSpPr>
          <p:spPr>
            <a:xfrm>
              <a:off x="1226820" y="17125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无法实时感知</a:t>
              </a:r>
            </a:p>
          </p:txBody>
        </p:sp>
        <p:sp>
          <p:nvSpPr>
            <p:cNvPr id="14" name="TextBox 14"/>
            <p:cNvSpPr txBox="1"/>
            <p:nvPr/>
          </p:nvSpPr>
          <p:spPr>
            <a:xfrm>
              <a:off x="1226820" y="19030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骑行姿态数据</a:t>
              </a:r>
            </a:p>
          </p:txBody>
        </p:sp>
      </p:grpSp>
      <p:grpSp>
        <p:nvGrpSpPr>
          <p:cNvPr id="24" name="Group 24"/>
          <p:cNvGrpSpPr/>
          <p:nvPr/>
        </p:nvGrpSpPr>
        <p:grpSpPr>
          <a:xfrm>
            <a:off x="6048375" y="857250"/>
            <a:ext cx="5191125" cy="1381125"/>
            <a:chOff x="6048375" y="857250"/>
            <a:chExt cx="5191125" cy="1381125"/>
          </a:xfrm>
        </p:grpSpPr>
        <p:sp>
          <p:nvSpPr>
            <p:cNvPr id="16" name="Rectangle 16"/>
            <p:cNvSpPr/>
            <p:nvPr/>
          </p:nvSpPr>
          <p:spPr>
            <a:xfrm>
              <a:off x="6048375" y="857250"/>
              <a:ext cx="5191125" cy="1381125"/>
            </a:xfrm>
            <a:prstGeom prst="roundRect">
              <a:avLst>
                <a:gd name="adj" fmla="val 5517"/>
              </a:avLst>
            </a:prstGeom>
            <a:solidFill>
              <a:srgbClr val="F5F7FA"/>
            </a:solidFill>
            <a:ln w="9525">
              <a:solidFill>
                <a:srgbClr val="E5E7EB"/>
              </a:solidFill>
            </a:ln>
          </p:spPr>
        </p:sp>
        <p:sp>
          <p:nvSpPr>
            <p:cNvPr id="17" name="Ellipse 17"/>
            <p:cNvSpPr/>
            <p:nvPr/>
          </p:nvSpPr>
          <p:spPr>
            <a:xfrm>
              <a:off x="6257925" y="1066800"/>
              <a:ext cx="342900" cy="342900"/>
            </a:xfrm>
            <a:prstGeom prst="ellipse">
              <a:avLst/>
            </a:prstGeom>
            <a:solidFill>
              <a:srgbClr val="2563EB">
                <a:alpha val="90000"/>
              </a:srgbClr>
            </a:solidFill>
            <a:ln>
              <a:noFill/>
            </a:ln>
          </p:spPr>
        </p:sp>
        <p:sp>
          <p:nvSpPr>
            <p:cNvPr id="18" name="TextBox 18"/>
            <p:cNvSpPr txBox="1"/>
            <p:nvPr/>
          </p:nvSpPr>
          <p:spPr>
            <a:xfrm>
              <a:off x="6321723" y="1156335"/>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02</a:t>
              </a:r>
            </a:p>
          </p:txBody>
        </p:sp>
        <p:sp>
          <p:nvSpPr>
            <p:cNvPr id="19" name="TextBox 19"/>
            <p:cNvSpPr txBox="1"/>
            <p:nvPr/>
          </p:nvSpPr>
          <p:spPr>
            <a:xfrm>
              <a:off x="6699885" y="1061085"/>
              <a:ext cx="1038606"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无法显示姿态</a:t>
              </a:r>
            </a:p>
          </p:txBody>
        </p:sp>
        <p:sp>
          <p:nvSpPr>
            <p:cNvPr id="20" name="TextBox 20"/>
            <p:cNvSpPr txBox="1"/>
            <p:nvPr/>
          </p:nvSpPr>
          <p:spPr>
            <a:xfrm>
              <a:off x="6703695" y="1331595"/>
              <a:ext cx="8629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无屏幕或指示灯</a:t>
              </a:r>
            </a:p>
          </p:txBody>
        </p:sp>
        <p:sp>
          <p:nvSpPr>
            <p:cNvPr id="21" name="TextBox 21"/>
            <p:cNvSpPr txBox="1"/>
            <p:nvPr/>
          </p:nvSpPr>
          <p:spPr>
            <a:xfrm>
              <a:off x="6703695" y="15220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实时数据显示</a:t>
              </a:r>
            </a:p>
          </p:txBody>
        </p:sp>
        <p:sp>
          <p:nvSpPr>
            <p:cNvPr id="22" name="TextBox 22"/>
            <p:cNvSpPr txBox="1"/>
            <p:nvPr/>
          </p:nvSpPr>
          <p:spPr>
            <a:xfrm>
              <a:off x="6703695" y="171259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无法呈现速度</a:t>
              </a:r>
            </a:p>
          </p:txBody>
        </p:sp>
        <p:sp>
          <p:nvSpPr>
            <p:cNvPr id="23" name="TextBox 23"/>
            <p:cNvSpPr txBox="1"/>
            <p:nvPr/>
          </p:nvSpPr>
          <p:spPr>
            <a:xfrm>
              <a:off x="6703695" y="1903095"/>
              <a:ext cx="8629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加速度与倾斜角</a:t>
              </a:r>
            </a:p>
          </p:txBody>
        </p:sp>
      </p:grpSp>
      <p:grpSp>
        <p:nvGrpSpPr>
          <p:cNvPr id="33" name="Group 33"/>
          <p:cNvGrpSpPr/>
          <p:nvPr/>
        </p:nvGrpSpPr>
        <p:grpSpPr>
          <a:xfrm>
            <a:off x="571500" y="2476500"/>
            <a:ext cx="5191125" cy="1381125"/>
            <a:chOff x="571500" y="2476500"/>
            <a:chExt cx="5191125" cy="1381125"/>
          </a:xfrm>
        </p:grpSpPr>
        <p:sp>
          <p:nvSpPr>
            <p:cNvPr id="25" name="Rectangle 25"/>
            <p:cNvSpPr/>
            <p:nvPr/>
          </p:nvSpPr>
          <p:spPr>
            <a:xfrm>
              <a:off x="571500" y="2476500"/>
              <a:ext cx="5191125" cy="1381125"/>
            </a:xfrm>
            <a:prstGeom prst="roundRect">
              <a:avLst>
                <a:gd name="adj" fmla="val 5517"/>
              </a:avLst>
            </a:prstGeom>
            <a:solidFill>
              <a:srgbClr val="F5F7FA"/>
            </a:solidFill>
            <a:ln w="9525">
              <a:solidFill>
                <a:srgbClr val="E5E7EB"/>
              </a:solidFill>
            </a:ln>
          </p:spPr>
        </p:sp>
        <p:sp>
          <p:nvSpPr>
            <p:cNvPr id="26" name="Ellipse 26"/>
            <p:cNvSpPr/>
            <p:nvPr/>
          </p:nvSpPr>
          <p:spPr>
            <a:xfrm>
              <a:off x="781050" y="2686050"/>
              <a:ext cx="342900" cy="342900"/>
            </a:xfrm>
            <a:prstGeom prst="ellipse">
              <a:avLst/>
            </a:prstGeom>
            <a:solidFill>
              <a:srgbClr val="3B82F6">
                <a:alpha val="90000"/>
              </a:srgbClr>
            </a:solidFill>
            <a:ln>
              <a:noFill/>
            </a:ln>
          </p:spPr>
        </p:sp>
        <p:sp>
          <p:nvSpPr>
            <p:cNvPr id="27" name="TextBox 27"/>
            <p:cNvSpPr txBox="1"/>
            <p:nvPr/>
          </p:nvSpPr>
          <p:spPr>
            <a:xfrm>
              <a:off x="844848" y="2775585"/>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03</a:t>
              </a:r>
            </a:p>
          </p:txBody>
        </p:sp>
        <p:sp>
          <p:nvSpPr>
            <p:cNvPr id="28" name="TextBox 28"/>
            <p:cNvSpPr txBox="1"/>
            <p:nvPr/>
          </p:nvSpPr>
          <p:spPr>
            <a:xfrm>
              <a:off x="1223010" y="2680335"/>
              <a:ext cx="702564"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缺乏交互</a:t>
              </a:r>
            </a:p>
          </p:txBody>
        </p:sp>
        <p:sp>
          <p:nvSpPr>
            <p:cNvPr id="29" name="TextBox 29"/>
            <p:cNvSpPr txBox="1"/>
            <p:nvPr/>
          </p:nvSpPr>
          <p:spPr>
            <a:xfrm>
              <a:off x="1226820" y="2950845"/>
              <a:ext cx="62293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无输入功能</a:t>
              </a:r>
            </a:p>
          </p:txBody>
        </p:sp>
        <p:sp>
          <p:nvSpPr>
            <p:cNvPr id="30" name="TextBox 30"/>
            <p:cNvSpPr txBox="1"/>
            <p:nvPr/>
          </p:nvSpPr>
          <p:spPr>
            <a:xfrm>
              <a:off x="1226820" y="314134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只能被动使用</a:t>
              </a:r>
            </a:p>
          </p:txBody>
        </p:sp>
        <p:sp>
          <p:nvSpPr>
            <p:cNvPr id="31" name="TextBox 31"/>
            <p:cNvSpPr txBox="1"/>
            <p:nvPr/>
          </p:nvSpPr>
          <p:spPr>
            <a:xfrm>
              <a:off x="1226820" y="333184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无法参与游戏</a:t>
              </a:r>
            </a:p>
          </p:txBody>
        </p:sp>
        <p:sp>
          <p:nvSpPr>
            <p:cNvPr id="32" name="TextBox 32"/>
            <p:cNvSpPr txBox="1"/>
            <p:nvPr/>
          </p:nvSpPr>
          <p:spPr>
            <a:xfrm>
              <a:off x="1226820" y="352234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或模拟器交互</a:t>
              </a:r>
            </a:p>
          </p:txBody>
        </p:sp>
      </p:grpSp>
      <p:grpSp>
        <p:nvGrpSpPr>
          <p:cNvPr id="42" name="Group 42"/>
          <p:cNvGrpSpPr/>
          <p:nvPr/>
        </p:nvGrpSpPr>
        <p:grpSpPr>
          <a:xfrm>
            <a:off x="6048375" y="2476500"/>
            <a:ext cx="5191125" cy="1381125"/>
            <a:chOff x="6048375" y="2476500"/>
            <a:chExt cx="5191125" cy="1381125"/>
          </a:xfrm>
        </p:grpSpPr>
        <p:sp>
          <p:nvSpPr>
            <p:cNvPr id="34" name="Rectangle 34"/>
            <p:cNvSpPr/>
            <p:nvPr/>
          </p:nvSpPr>
          <p:spPr>
            <a:xfrm>
              <a:off x="6048375" y="2476500"/>
              <a:ext cx="5191125" cy="1381125"/>
            </a:xfrm>
            <a:prstGeom prst="roundRect">
              <a:avLst>
                <a:gd name="adj" fmla="val 5517"/>
              </a:avLst>
            </a:prstGeom>
            <a:solidFill>
              <a:srgbClr val="F5F7FA"/>
            </a:solidFill>
            <a:ln w="9525">
              <a:solidFill>
                <a:srgbClr val="E5E7EB"/>
              </a:solidFill>
            </a:ln>
          </p:spPr>
        </p:sp>
        <p:sp>
          <p:nvSpPr>
            <p:cNvPr id="35" name="Ellipse 35"/>
            <p:cNvSpPr/>
            <p:nvPr/>
          </p:nvSpPr>
          <p:spPr>
            <a:xfrm>
              <a:off x="6257925" y="2686050"/>
              <a:ext cx="342900" cy="342900"/>
            </a:xfrm>
            <a:prstGeom prst="ellipse">
              <a:avLst/>
            </a:prstGeom>
            <a:solidFill>
              <a:srgbClr val="10B981">
                <a:alpha val="90000"/>
              </a:srgbClr>
            </a:solidFill>
            <a:ln>
              <a:noFill/>
            </a:ln>
          </p:spPr>
        </p:sp>
        <p:sp>
          <p:nvSpPr>
            <p:cNvPr id="36" name="TextBox 36"/>
            <p:cNvSpPr txBox="1"/>
            <p:nvPr/>
          </p:nvSpPr>
          <p:spPr>
            <a:xfrm>
              <a:off x="6321723" y="2775585"/>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04</a:t>
              </a:r>
            </a:p>
          </p:txBody>
        </p:sp>
        <p:sp>
          <p:nvSpPr>
            <p:cNvPr id="37" name="TextBox 37"/>
            <p:cNvSpPr txBox="1"/>
            <p:nvPr/>
          </p:nvSpPr>
          <p:spPr>
            <a:xfrm>
              <a:off x="6699885" y="2680335"/>
              <a:ext cx="702564"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无个性化</a:t>
              </a:r>
            </a:p>
          </p:txBody>
        </p:sp>
        <p:sp>
          <p:nvSpPr>
            <p:cNvPr id="38" name="TextBox 38"/>
            <p:cNvSpPr txBox="1"/>
            <p:nvPr/>
          </p:nvSpPr>
          <p:spPr>
            <a:xfrm>
              <a:off x="6703695" y="295084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用户无法定制</a:t>
              </a:r>
            </a:p>
          </p:txBody>
        </p:sp>
        <p:sp>
          <p:nvSpPr>
            <p:cNvPr id="39" name="TextBox 39"/>
            <p:cNvSpPr txBox="1"/>
            <p:nvPr/>
          </p:nvSpPr>
          <p:spPr>
            <a:xfrm>
              <a:off x="6703695" y="3141345"/>
              <a:ext cx="74295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按键映射方案</a:t>
              </a:r>
            </a:p>
          </p:txBody>
        </p:sp>
        <p:sp>
          <p:nvSpPr>
            <p:cNvPr id="40" name="TextBox 40"/>
            <p:cNvSpPr txBox="1"/>
            <p:nvPr/>
          </p:nvSpPr>
          <p:spPr>
            <a:xfrm>
              <a:off x="6703695" y="3331845"/>
              <a:ext cx="62293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手感灵敏度</a:t>
              </a:r>
            </a:p>
          </p:txBody>
        </p:sp>
        <p:sp>
          <p:nvSpPr>
            <p:cNvPr id="41" name="TextBox 41"/>
            <p:cNvSpPr txBox="1"/>
            <p:nvPr/>
          </p:nvSpPr>
          <p:spPr>
            <a:xfrm>
              <a:off x="6703695" y="3522345"/>
              <a:ext cx="7009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RGB灯光效果</a:t>
              </a:r>
            </a:p>
          </p:txBody>
        </p:sp>
      </p:grpSp>
      <p:grpSp>
        <p:nvGrpSpPr>
          <p:cNvPr id="47" name="Group 47"/>
          <p:cNvGrpSpPr/>
          <p:nvPr/>
        </p:nvGrpSpPr>
        <p:grpSpPr>
          <a:xfrm>
            <a:off x="571500" y="4095750"/>
            <a:ext cx="10668000" cy="800100"/>
            <a:chOff x="571500" y="4095750"/>
            <a:chExt cx="10668000" cy="800100"/>
          </a:xfrm>
        </p:grpSpPr>
        <p:sp>
          <p:nvSpPr>
            <p:cNvPr id="43" name="Rectangle 43"/>
            <p:cNvSpPr/>
            <p:nvPr/>
          </p:nvSpPr>
          <p:spPr>
            <a:xfrm>
              <a:off x="571500" y="4095750"/>
              <a:ext cx="10668000" cy="762000"/>
            </a:xfrm>
            <a:prstGeom prst="roundRect">
              <a:avLst>
                <a:gd name="adj" fmla="val 10000"/>
              </a:avLst>
            </a:prstGeom>
            <a:solidFill>
              <a:srgbClr val="1E3A5F">
                <a:alpha val="5000"/>
              </a:srgbClr>
            </a:solidFill>
            <a:ln>
              <a:noFill/>
            </a:ln>
          </p:spPr>
        </p:sp>
        <p:sp>
          <p:nvSpPr>
            <p:cNvPr id="44" name="TextBox 44"/>
            <p:cNvSpPr txBox="1"/>
            <p:nvPr/>
          </p:nvSpPr>
          <p:spPr>
            <a:xfrm>
              <a:off x="843915" y="4268152"/>
              <a:ext cx="1146810" cy="213360"/>
            </a:xfrm>
            <a:prstGeom prst="rect">
              <a:avLst/>
            </a:prstGeom>
            <a:noFill/>
            <a:ln>
              <a:noFill/>
            </a:ln>
          </p:spPr>
          <p:txBody>
            <a:bodyPr wrap="none" lIns="0" tIns="0" rIns="0" bIns="0" anchor="t" anchorCtr="0">
              <a:spAutoFit/>
            </a:bodyPr>
            <a:lstStyle/>
            <a:p>
              <a:pPr algn="l"/>
              <a:r>
                <a:rPr lang="zh-CN" sz="1050" dirty="0">
                  <a:solidFill>
                    <a:srgbClr val="1F2937"/>
                  </a:solidFill>
                  <a:latin typeface="Segoe UI"/>
                  <a:ea typeface="SimHei"/>
                  <a:cs typeface="Segoe UI"/>
                </a:rPr>
                <a:t>使用体验痛点总结</a:t>
              </a:r>
            </a:p>
          </p:txBody>
        </p:sp>
        <p:sp>
          <p:nvSpPr>
            <p:cNvPr id="45" name="TextBox 45"/>
            <p:cNvSpPr txBox="1"/>
            <p:nvPr/>
          </p:nvSpPr>
          <p:spPr>
            <a:xfrm>
              <a:off x="845820" y="4522470"/>
              <a:ext cx="2405158"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传统刹车手把只支持基础制动，无数据反馈</a:t>
              </a:r>
            </a:p>
          </p:txBody>
        </p:sp>
        <p:sp>
          <p:nvSpPr>
            <p:cNvPr id="46" name="TextBox 46"/>
            <p:cNvSpPr txBox="1"/>
            <p:nvPr/>
          </p:nvSpPr>
          <p:spPr>
            <a:xfrm>
              <a:off x="845820" y="4712970"/>
              <a:ext cx="2885218"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无法与现代模拟器或游戏进行交互，限制了使用场景</a:t>
              </a:r>
            </a:p>
          </p:txBody>
        </p:sp>
      </p:grpSp>
      <p:sp>
        <p:nvSpPr>
          <p:cNvPr id="48" name="Rectangle 48"/>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1192463"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SOLUTION</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03 / 09</a:t>
            </a:r>
          </a:p>
        </p:txBody>
      </p:sp>
      <p:sp>
        <p:nvSpPr>
          <p:cNvPr id="6" name="Rectangle 6"/>
          <p:cNvSpPr/>
          <p:nvPr/>
        </p:nvSpPr>
        <p:spPr>
          <a:xfrm>
            <a:off x="571500" y="523875"/>
            <a:ext cx="762000" cy="28575"/>
          </a:xfrm>
          <a:prstGeom prst="rect">
            <a:avLst/>
          </a:prstGeom>
          <a:solidFill>
            <a:srgbClr val="2563EB"/>
          </a:solidFill>
          <a:ln>
            <a:noFill/>
          </a:ln>
        </p:spPr>
      </p:sp>
      <p:sp>
        <p:nvSpPr>
          <p:cNvPr id="7" name="TextBox 7"/>
          <p:cNvSpPr txBox="1"/>
          <p:nvPr/>
        </p:nvSpPr>
        <p:spPr>
          <a:xfrm>
            <a:off x="525780" y="1135380"/>
            <a:ext cx="368675" cy="731520"/>
          </a:xfrm>
          <a:prstGeom prst="rect">
            <a:avLst/>
          </a:prstGeom>
          <a:noFill/>
          <a:ln>
            <a:noFill/>
          </a:ln>
        </p:spPr>
        <p:txBody>
          <a:bodyPr wrap="none" lIns="0" tIns="0" rIns="0" bIns="0" anchor="t" anchorCtr="0">
            <a:spAutoFit/>
          </a:bodyPr>
          <a:lstStyle/>
          <a:p>
            <a:pPr algn="l"/>
            <a:r>
              <a:rPr lang="zh-CN" sz="3600" b="1" dirty="0">
                <a:solidFill>
                  <a:srgbClr val="2563EB">
                    <a:alphaMod val="90000"/>
                  </a:srgbClr>
                </a:solidFill>
                <a:latin typeface="Arial"/>
                <a:ea typeface="Microsoft YaHei"/>
                <a:cs typeface="Arial"/>
              </a:rPr>
              <a:t>3</a:t>
            </a:r>
          </a:p>
        </p:txBody>
      </p:sp>
      <p:sp>
        <p:nvSpPr>
          <p:cNvPr id="8" name="TextBox 8"/>
          <p:cNvSpPr txBox="1"/>
          <p:nvPr/>
        </p:nvSpPr>
        <p:spPr>
          <a:xfrm>
            <a:off x="1123950" y="1362075"/>
            <a:ext cx="1088231"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Segoe UI"/>
                <a:ea typeface="SimHei"/>
                <a:cs typeface="Segoe UI"/>
              </a:rPr>
              <a:t>步核心方案</a:t>
            </a:r>
          </a:p>
        </p:txBody>
      </p:sp>
      <p:grpSp>
        <p:nvGrpSpPr>
          <p:cNvPr id="20" name="Group 20"/>
          <p:cNvGrpSpPr/>
          <p:nvPr/>
        </p:nvGrpSpPr>
        <p:grpSpPr>
          <a:xfrm>
            <a:off x="571500" y="2095500"/>
            <a:ext cx="10668000" cy="1095375"/>
            <a:chOff x="571500" y="2095500"/>
            <a:chExt cx="10668000" cy="1095375"/>
          </a:xfrm>
        </p:grpSpPr>
        <p:sp>
          <p:nvSpPr>
            <p:cNvPr id="9" name="Rectangle 9"/>
            <p:cNvSpPr/>
            <p:nvPr/>
          </p:nvSpPr>
          <p:spPr>
            <a:xfrm>
              <a:off x="571500" y="2095500"/>
              <a:ext cx="10668000" cy="1095375"/>
            </a:xfrm>
            <a:prstGeom prst="roundRect">
              <a:avLst>
                <a:gd name="adj" fmla="val 6957"/>
              </a:avLst>
            </a:prstGeom>
            <a:solidFill>
              <a:srgbClr val="F5F7FA"/>
            </a:solidFill>
            <a:ln w="9525">
              <a:solidFill>
                <a:srgbClr val="E5E7EB"/>
              </a:solidFill>
            </a:ln>
          </p:spPr>
        </p:sp>
        <p:sp>
          <p:nvSpPr>
            <p:cNvPr id="10" name="Ellipse 10"/>
            <p:cNvSpPr/>
            <p:nvPr/>
          </p:nvSpPr>
          <p:spPr>
            <a:xfrm>
              <a:off x="828675" y="2381250"/>
              <a:ext cx="533400" cy="533400"/>
            </a:xfrm>
            <a:prstGeom prst="ellipse">
              <a:avLst/>
            </a:prstGeom>
            <a:solidFill>
              <a:srgbClr val="1E3A5F"/>
            </a:solidFill>
            <a:ln>
              <a:noFill/>
            </a:ln>
          </p:spPr>
        </p:sp>
        <p:sp>
          <p:nvSpPr>
            <p:cNvPr id="11" name="TextBox 11"/>
            <p:cNvSpPr txBox="1"/>
            <p:nvPr/>
          </p:nvSpPr>
          <p:spPr>
            <a:xfrm>
              <a:off x="1039766" y="2555558"/>
              <a:ext cx="1112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2" name="TextBox 12"/>
            <p:cNvSpPr txBox="1"/>
            <p:nvPr/>
          </p:nvSpPr>
          <p:spPr>
            <a:xfrm>
              <a:off x="1604010" y="2346960"/>
              <a:ext cx="1038606"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系统显示方案</a:t>
              </a:r>
            </a:p>
          </p:txBody>
        </p:sp>
        <p:sp>
          <p:nvSpPr>
            <p:cNvPr id="13" name="TextBox 13"/>
            <p:cNvSpPr txBox="1"/>
            <p:nvPr/>
          </p:nvSpPr>
          <p:spPr>
            <a:xfrm>
              <a:off x="1607820" y="2569845"/>
              <a:ext cx="2627186"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保留原有手把结构，加装 3D 打印支架与传感组件</a:t>
              </a:r>
            </a:p>
          </p:txBody>
        </p:sp>
        <p:sp>
          <p:nvSpPr>
            <p:cNvPr id="14" name="Rectangle 14"/>
            <p:cNvSpPr/>
            <p:nvPr/>
          </p:nvSpPr>
          <p:spPr>
            <a:xfrm>
              <a:off x="1619250" y="2838450"/>
              <a:ext cx="571500" cy="190500"/>
            </a:xfrm>
            <a:prstGeom prst="roundRect">
              <a:avLst>
                <a:gd name="adj" fmla="val 50000"/>
              </a:avLst>
            </a:prstGeom>
            <a:solidFill>
              <a:srgbClr val="FFFFFF"/>
            </a:solidFill>
            <a:ln w="9525">
              <a:solidFill>
                <a:srgbClr val="1E3A5F"/>
              </a:solidFill>
            </a:ln>
          </p:spPr>
        </p:sp>
        <p:sp>
          <p:nvSpPr>
            <p:cNvPr id="15" name="TextBox 15"/>
            <p:cNvSpPr txBox="1"/>
            <p:nvPr/>
          </p:nvSpPr>
          <p:spPr>
            <a:xfrm>
              <a:off x="1795462" y="2890838"/>
              <a:ext cx="219075" cy="152400"/>
            </a:xfrm>
            <a:prstGeom prst="rect">
              <a:avLst/>
            </a:prstGeom>
            <a:noFill/>
            <a:ln>
              <a:noFill/>
            </a:ln>
          </p:spPr>
          <p:txBody>
            <a:bodyPr wrap="none" lIns="0" tIns="0" rIns="0" bIns="0" anchor="t" anchorCtr="0">
              <a:spAutoFit/>
            </a:bodyPr>
            <a:lstStyle/>
            <a:p>
              <a:pPr algn="ctr"/>
              <a:r>
                <a:rPr lang="zh-CN" sz="750" dirty="0">
                  <a:solidFill>
                    <a:srgbClr val="1E3A5F"/>
                  </a:solidFill>
                  <a:latin typeface="Arial"/>
                  <a:ea typeface="Microsoft YaHei"/>
                  <a:cs typeface="Arial"/>
                </a:rPr>
                <a:t>兼容</a:t>
              </a:r>
            </a:p>
          </p:txBody>
        </p:sp>
        <p:sp>
          <p:nvSpPr>
            <p:cNvPr id="16" name="Rectangle 16"/>
            <p:cNvSpPr/>
            <p:nvPr/>
          </p:nvSpPr>
          <p:spPr>
            <a:xfrm>
              <a:off x="2286000" y="2838450"/>
              <a:ext cx="571500" cy="190500"/>
            </a:xfrm>
            <a:prstGeom prst="roundRect">
              <a:avLst>
                <a:gd name="adj" fmla="val 50000"/>
              </a:avLst>
            </a:prstGeom>
            <a:solidFill>
              <a:srgbClr val="FFFFFF"/>
            </a:solidFill>
            <a:ln w="9525">
              <a:solidFill>
                <a:srgbClr val="1E3A5F"/>
              </a:solidFill>
            </a:ln>
          </p:spPr>
        </p:sp>
        <p:sp>
          <p:nvSpPr>
            <p:cNvPr id="17" name="TextBox 17"/>
            <p:cNvSpPr txBox="1"/>
            <p:nvPr/>
          </p:nvSpPr>
          <p:spPr>
            <a:xfrm>
              <a:off x="2462212" y="2890838"/>
              <a:ext cx="219075" cy="152400"/>
            </a:xfrm>
            <a:prstGeom prst="rect">
              <a:avLst/>
            </a:prstGeom>
            <a:noFill/>
            <a:ln>
              <a:noFill/>
            </a:ln>
          </p:spPr>
          <p:txBody>
            <a:bodyPr wrap="none" lIns="0" tIns="0" rIns="0" bIns="0" anchor="t" anchorCtr="0">
              <a:spAutoFit/>
            </a:bodyPr>
            <a:lstStyle/>
            <a:p>
              <a:pPr algn="ctr"/>
              <a:r>
                <a:rPr lang="zh-CN" sz="750" dirty="0">
                  <a:solidFill>
                    <a:srgbClr val="1E3A5F"/>
                  </a:solidFill>
                  <a:latin typeface="Arial"/>
                  <a:ea typeface="Microsoft YaHei"/>
                  <a:cs typeface="Arial"/>
                </a:rPr>
                <a:t>改装</a:t>
              </a:r>
            </a:p>
          </p:txBody>
        </p:sp>
        <p:sp>
          <p:nvSpPr>
            <p:cNvPr id="18" name="Rectangle 18"/>
            <p:cNvSpPr/>
            <p:nvPr/>
          </p:nvSpPr>
          <p:spPr>
            <a:xfrm>
              <a:off x="2952750" y="2838450"/>
              <a:ext cx="571500" cy="190500"/>
            </a:xfrm>
            <a:prstGeom prst="roundRect">
              <a:avLst>
                <a:gd name="adj" fmla="val 50000"/>
              </a:avLst>
            </a:prstGeom>
            <a:solidFill>
              <a:srgbClr val="FFFFFF"/>
            </a:solidFill>
            <a:ln w="9525">
              <a:solidFill>
                <a:srgbClr val="1E3A5F"/>
              </a:solidFill>
            </a:ln>
          </p:spPr>
        </p:sp>
        <p:sp>
          <p:nvSpPr>
            <p:cNvPr id="19" name="TextBox 19"/>
            <p:cNvSpPr txBox="1"/>
            <p:nvPr/>
          </p:nvSpPr>
          <p:spPr>
            <a:xfrm>
              <a:off x="3128962" y="2890838"/>
              <a:ext cx="219075" cy="152400"/>
            </a:xfrm>
            <a:prstGeom prst="rect">
              <a:avLst/>
            </a:prstGeom>
            <a:noFill/>
            <a:ln>
              <a:noFill/>
            </a:ln>
          </p:spPr>
          <p:txBody>
            <a:bodyPr wrap="none" lIns="0" tIns="0" rIns="0" bIns="0" anchor="t" anchorCtr="0">
              <a:spAutoFit/>
            </a:bodyPr>
            <a:lstStyle/>
            <a:p>
              <a:pPr algn="ctr"/>
              <a:r>
                <a:rPr lang="zh-CN" sz="750" dirty="0">
                  <a:solidFill>
                    <a:srgbClr val="1E3A5F"/>
                  </a:solidFill>
                  <a:latin typeface="Arial"/>
                  <a:ea typeface="Microsoft YaHei"/>
                  <a:cs typeface="Arial"/>
                </a:rPr>
                <a:t>即装</a:t>
              </a:r>
            </a:p>
          </p:txBody>
        </p:sp>
      </p:grpSp>
      <p:grpSp>
        <p:nvGrpSpPr>
          <p:cNvPr id="32" name="Group 32"/>
          <p:cNvGrpSpPr/>
          <p:nvPr/>
        </p:nvGrpSpPr>
        <p:grpSpPr>
          <a:xfrm>
            <a:off x="571500" y="3333750"/>
            <a:ext cx="10668000" cy="1095375"/>
            <a:chOff x="571500" y="3333750"/>
            <a:chExt cx="10668000" cy="1095375"/>
          </a:xfrm>
        </p:grpSpPr>
        <p:sp>
          <p:nvSpPr>
            <p:cNvPr id="21" name="Rectangle 21"/>
            <p:cNvSpPr/>
            <p:nvPr/>
          </p:nvSpPr>
          <p:spPr>
            <a:xfrm>
              <a:off x="571500" y="3333750"/>
              <a:ext cx="10668000" cy="1095375"/>
            </a:xfrm>
            <a:prstGeom prst="roundRect">
              <a:avLst>
                <a:gd name="adj" fmla="val 6957"/>
              </a:avLst>
            </a:prstGeom>
            <a:solidFill>
              <a:srgbClr val="F5F7FA"/>
            </a:solidFill>
            <a:ln w="9525">
              <a:solidFill>
                <a:srgbClr val="E5E7EB"/>
              </a:solidFill>
            </a:ln>
          </p:spPr>
        </p:sp>
        <p:sp>
          <p:nvSpPr>
            <p:cNvPr id="22" name="Ellipse 22"/>
            <p:cNvSpPr/>
            <p:nvPr/>
          </p:nvSpPr>
          <p:spPr>
            <a:xfrm>
              <a:off x="828675" y="3619500"/>
              <a:ext cx="533400" cy="533400"/>
            </a:xfrm>
            <a:prstGeom prst="ellipse">
              <a:avLst/>
            </a:prstGeom>
            <a:solidFill>
              <a:srgbClr val="2563EB"/>
            </a:solidFill>
            <a:ln>
              <a:noFill/>
            </a:ln>
          </p:spPr>
        </p:sp>
        <p:sp>
          <p:nvSpPr>
            <p:cNvPr id="23" name="TextBox 23"/>
            <p:cNvSpPr txBox="1"/>
            <p:nvPr/>
          </p:nvSpPr>
          <p:spPr>
            <a:xfrm>
              <a:off x="1010887" y="379380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4" name="TextBox 24"/>
            <p:cNvSpPr txBox="1"/>
            <p:nvPr/>
          </p:nvSpPr>
          <p:spPr>
            <a:xfrm>
              <a:off x="1604010" y="3585210"/>
              <a:ext cx="1357846"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Arduino 智能控制</a:t>
              </a:r>
            </a:p>
          </p:txBody>
        </p:sp>
        <p:sp>
          <p:nvSpPr>
            <p:cNvPr id="25" name="TextBox 25"/>
            <p:cNvSpPr txBox="1"/>
            <p:nvPr/>
          </p:nvSpPr>
          <p:spPr>
            <a:xfrm>
              <a:off x="1607820" y="3808095"/>
              <a:ext cx="372532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Arduino Pro Micro 实现霍尔传感器信号采集，实时获取手把旋转状态</a:t>
              </a:r>
            </a:p>
          </p:txBody>
        </p:sp>
        <p:sp>
          <p:nvSpPr>
            <p:cNvPr id="26" name="Rectangle 26"/>
            <p:cNvSpPr/>
            <p:nvPr/>
          </p:nvSpPr>
          <p:spPr>
            <a:xfrm>
              <a:off x="1619250" y="4076700"/>
              <a:ext cx="476250" cy="190500"/>
            </a:xfrm>
            <a:prstGeom prst="roundRect">
              <a:avLst>
                <a:gd name="adj" fmla="val 50000"/>
              </a:avLst>
            </a:prstGeom>
            <a:solidFill>
              <a:srgbClr val="FFFFFF"/>
            </a:solidFill>
            <a:ln w="9525">
              <a:solidFill>
                <a:srgbClr val="2563EB"/>
              </a:solidFill>
            </a:ln>
          </p:spPr>
        </p:sp>
        <p:sp>
          <p:nvSpPr>
            <p:cNvPr id="27" name="TextBox 27"/>
            <p:cNvSpPr txBox="1"/>
            <p:nvPr/>
          </p:nvSpPr>
          <p:spPr>
            <a:xfrm>
              <a:off x="1747838" y="4129088"/>
              <a:ext cx="219075" cy="152400"/>
            </a:xfrm>
            <a:prstGeom prst="rect">
              <a:avLst/>
            </a:prstGeom>
            <a:noFill/>
            <a:ln>
              <a:noFill/>
            </a:ln>
          </p:spPr>
          <p:txBody>
            <a:bodyPr wrap="none" lIns="0" tIns="0" rIns="0" bIns="0" anchor="t" anchorCtr="0">
              <a:spAutoFit/>
            </a:bodyPr>
            <a:lstStyle/>
            <a:p>
              <a:pPr algn="ctr"/>
              <a:r>
                <a:rPr lang="zh-CN" sz="750" dirty="0">
                  <a:solidFill>
                    <a:srgbClr val="2563EB"/>
                  </a:solidFill>
                  <a:latin typeface="Arial"/>
                  <a:ea typeface="Microsoft YaHei"/>
                  <a:cs typeface="Arial"/>
                </a:rPr>
                <a:t>编程</a:t>
              </a:r>
            </a:p>
          </p:txBody>
        </p:sp>
        <p:sp>
          <p:nvSpPr>
            <p:cNvPr id="28" name="Rectangle 28"/>
            <p:cNvSpPr/>
            <p:nvPr/>
          </p:nvSpPr>
          <p:spPr>
            <a:xfrm>
              <a:off x="2190750" y="4076700"/>
              <a:ext cx="476250" cy="190500"/>
            </a:xfrm>
            <a:prstGeom prst="roundRect">
              <a:avLst>
                <a:gd name="adj" fmla="val 50000"/>
              </a:avLst>
            </a:prstGeom>
            <a:solidFill>
              <a:srgbClr val="FFFFFF"/>
            </a:solidFill>
            <a:ln w="9525">
              <a:solidFill>
                <a:srgbClr val="2563EB"/>
              </a:solidFill>
            </a:ln>
          </p:spPr>
        </p:sp>
        <p:sp>
          <p:nvSpPr>
            <p:cNvPr id="29" name="TextBox 29"/>
            <p:cNvSpPr txBox="1"/>
            <p:nvPr/>
          </p:nvSpPr>
          <p:spPr>
            <a:xfrm>
              <a:off x="2336840" y="4129088"/>
              <a:ext cx="184071" cy="152400"/>
            </a:xfrm>
            <a:prstGeom prst="rect">
              <a:avLst/>
            </a:prstGeom>
            <a:noFill/>
            <a:ln>
              <a:noFill/>
            </a:ln>
          </p:spPr>
          <p:txBody>
            <a:bodyPr wrap="none" lIns="0" tIns="0" rIns="0" bIns="0" anchor="t" anchorCtr="0">
              <a:spAutoFit/>
            </a:bodyPr>
            <a:lstStyle/>
            <a:p>
              <a:pPr algn="ctr"/>
              <a:r>
                <a:rPr lang="zh-CN" sz="750" dirty="0">
                  <a:solidFill>
                    <a:srgbClr val="2563EB"/>
                  </a:solidFill>
                  <a:latin typeface="Arial"/>
                  <a:ea typeface="Microsoft YaHei"/>
                  <a:cs typeface="Arial"/>
                </a:rPr>
                <a:t>ADC</a:t>
              </a:r>
            </a:p>
          </p:txBody>
        </p:sp>
        <p:sp>
          <p:nvSpPr>
            <p:cNvPr id="30" name="Rectangle 30"/>
            <p:cNvSpPr/>
            <p:nvPr/>
          </p:nvSpPr>
          <p:spPr>
            <a:xfrm>
              <a:off x="2762250" y="4076700"/>
              <a:ext cx="571500" cy="190500"/>
            </a:xfrm>
            <a:prstGeom prst="roundRect">
              <a:avLst>
                <a:gd name="adj" fmla="val 50000"/>
              </a:avLst>
            </a:prstGeom>
            <a:solidFill>
              <a:srgbClr val="FFFFFF"/>
            </a:solidFill>
            <a:ln w="9525">
              <a:solidFill>
                <a:srgbClr val="2563EB"/>
              </a:solidFill>
            </a:ln>
          </p:spPr>
        </p:sp>
        <p:sp>
          <p:nvSpPr>
            <p:cNvPr id="31" name="TextBox 31"/>
            <p:cNvSpPr txBox="1"/>
            <p:nvPr/>
          </p:nvSpPr>
          <p:spPr>
            <a:xfrm>
              <a:off x="2838450" y="4129088"/>
              <a:ext cx="419100" cy="152400"/>
            </a:xfrm>
            <a:prstGeom prst="rect">
              <a:avLst/>
            </a:prstGeom>
            <a:noFill/>
            <a:ln>
              <a:noFill/>
            </a:ln>
          </p:spPr>
          <p:txBody>
            <a:bodyPr wrap="none" lIns="0" tIns="0" rIns="0" bIns="0" anchor="t" anchorCtr="0">
              <a:spAutoFit/>
            </a:bodyPr>
            <a:lstStyle/>
            <a:p>
              <a:pPr algn="ctr"/>
              <a:r>
                <a:rPr lang="zh-CN" sz="750" dirty="0">
                  <a:solidFill>
                    <a:srgbClr val="2563EB"/>
                  </a:solidFill>
                  <a:latin typeface="Arial"/>
                  <a:ea typeface="Microsoft YaHei"/>
                  <a:cs typeface="Arial"/>
                </a:rPr>
                <a:t>信号处理</a:t>
              </a:r>
            </a:p>
          </p:txBody>
        </p:sp>
      </p:grpSp>
      <p:grpSp>
        <p:nvGrpSpPr>
          <p:cNvPr id="44" name="Group 44"/>
          <p:cNvGrpSpPr/>
          <p:nvPr/>
        </p:nvGrpSpPr>
        <p:grpSpPr>
          <a:xfrm>
            <a:off x="571500" y="4572000"/>
            <a:ext cx="10668000" cy="1095375"/>
            <a:chOff x="571500" y="4572000"/>
            <a:chExt cx="10668000" cy="1095375"/>
          </a:xfrm>
        </p:grpSpPr>
        <p:sp>
          <p:nvSpPr>
            <p:cNvPr id="33" name="Rectangle 33"/>
            <p:cNvSpPr/>
            <p:nvPr/>
          </p:nvSpPr>
          <p:spPr>
            <a:xfrm>
              <a:off x="571500" y="4572000"/>
              <a:ext cx="10668000" cy="1095375"/>
            </a:xfrm>
            <a:prstGeom prst="roundRect">
              <a:avLst>
                <a:gd name="adj" fmla="val 6957"/>
              </a:avLst>
            </a:prstGeom>
            <a:solidFill>
              <a:srgbClr val="F5F7FA"/>
            </a:solidFill>
            <a:ln w="9525">
              <a:solidFill>
                <a:srgbClr val="E5E7EB"/>
              </a:solidFill>
            </a:ln>
          </p:spPr>
        </p:sp>
        <p:sp>
          <p:nvSpPr>
            <p:cNvPr id="34" name="Ellipse 34"/>
            <p:cNvSpPr/>
            <p:nvPr/>
          </p:nvSpPr>
          <p:spPr>
            <a:xfrm>
              <a:off x="828675" y="4857750"/>
              <a:ext cx="533400" cy="533400"/>
            </a:xfrm>
            <a:prstGeom prst="ellipse">
              <a:avLst/>
            </a:prstGeom>
            <a:solidFill>
              <a:srgbClr val="10B981"/>
            </a:solidFill>
            <a:ln>
              <a:noFill/>
            </a:ln>
          </p:spPr>
        </p:sp>
        <p:sp>
          <p:nvSpPr>
            <p:cNvPr id="35" name="TextBox 35"/>
            <p:cNvSpPr txBox="1"/>
            <p:nvPr/>
          </p:nvSpPr>
          <p:spPr>
            <a:xfrm>
              <a:off x="1010887" y="503205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36" name="TextBox 36"/>
            <p:cNvSpPr txBox="1"/>
            <p:nvPr/>
          </p:nvSpPr>
          <p:spPr>
            <a:xfrm>
              <a:off x="1604010" y="4823460"/>
              <a:ext cx="1651883"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USB HID 模拟游戏手柄</a:t>
              </a:r>
            </a:p>
          </p:txBody>
        </p:sp>
        <p:sp>
          <p:nvSpPr>
            <p:cNvPr id="37" name="TextBox 37"/>
            <p:cNvSpPr txBox="1"/>
            <p:nvPr/>
          </p:nvSpPr>
          <p:spPr>
            <a:xfrm>
              <a:off x="1607820" y="5046345"/>
              <a:ext cx="2819209"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信号映射到手柄按键 · 即插即用 · 无需安装额外驱动</a:t>
              </a:r>
            </a:p>
          </p:txBody>
        </p:sp>
        <p:sp>
          <p:nvSpPr>
            <p:cNvPr id="38" name="Rectangle 38"/>
            <p:cNvSpPr/>
            <p:nvPr/>
          </p:nvSpPr>
          <p:spPr>
            <a:xfrm>
              <a:off x="1619250" y="5314950"/>
              <a:ext cx="476250" cy="190500"/>
            </a:xfrm>
            <a:prstGeom prst="roundRect">
              <a:avLst>
                <a:gd name="adj" fmla="val 50000"/>
              </a:avLst>
            </a:prstGeom>
            <a:solidFill>
              <a:srgbClr val="FFFFFF"/>
            </a:solidFill>
            <a:ln w="9525">
              <a:solidFill>
                <a:srgbClr val="10B981"/>
              </a:solidFill>
            </a:ln>
          </p:spPr>
        </p:sp>
        <p:sp>
          <p:nvSpPr>
            <p:cNvPr id="39" name="TextBox 39"/>
            <p:cNvSpPr txBox="1"/>
            <p:nvPr/>
          </p:nvSpPr>
          <p:spPr>
            <a:xfrm>
              <a:off x="1747838" y="5367338"/>
              <a:ext cx="219075" cy="152400"/>
            </a:xfrm>
            <a:prstGeom prst="rect">
              <a:avLst/>
            </a:prstGeom>
            <a:noFill/>
            <a:ln>
              <a:noFill/>
            </a:ln>
          </p:spPr>
          <p:txBody>
            <a:bodyPr wrap="none" lIns="0" tIns="0" rIns="0" bIns="0" anchor="t" anchorCtr="0">
              <a:spAutoFit/>
            </a:bodyPr>
            <a:lstStyle/>
            <a:p>
              <a:pPr algn="ctr"/>
              <a:r>
                <a:rPr lang="zh-CN" sz="750" dirty="0">
                  <a:solidFill>
                    <a:srgbClr val="10B981"/>
                  </a:solidFill>
                  <a:latin typeface="Arial"/>
                  <a:ea typeface="Microsoft YaHei"/>
                  <a:cs typeface="Arial"/>
                </a:rPr>
                <a:t>通用</a:t>
              </a:r>
            </a:p>
          </p:txBody>
        </p:sp>
        <p:sp>
          <p:nvSpPr>
            <p:cNvPr id="40" name="Rectangle 40"/>
            <p:cNvSpPr/>
            <p:nvPr/>
          </p:nvSpPr>
          <p:spPr>
            <a:xfrm>
              <a:off x="2190750" y="5314950"/>
              <a:ext cx="476250" cy="190500"/>
            </a:xfrm>
            <a:prstGeom prst="roundRect">
              <a:avLst>
                <a:gd name="adj" fmla="val 50000"/>
              </a:avLst>
            </a:prstGeom>
            <a:solidFill>
              <a:srgbClr val="FFFFFF"/>
            </a:solidFill>
            <a:ln w="9525">
              <a:solidFill>
                <a:srgbClr val="10B981"/>
              </a:solidFill>
            </a:ln>
          </p:spPr>
        </p:sp>
        <p:sp>
          <p:nvSpPr>
            <p:cNvPr id="41" name="TextBox 41"/>
            <p:cNvSpPr txBox="1"/>
            <p:nvPr/>
          </p:nvSpPr>
          <p:spPr>
            <a:xfrm>
              <a:off x="2319338" y="5367338"/>
              <a:ext cx="219075" cy="152400"/>
            </a:xfrm>
            <a:prstGeom prst="rect">
              <a:avLst/>
            </a:prstGeom>
            <a:noFill/>
            <a:ln>
              <a:noFill/>
            </a:ln>
          </p:spPr>
          <p:txBody>
            <a:bodyPr wrap="none" lIns="0" tIns="0" rIns="0" bIns="0" anchor="t" anchorCtr="0">
              <a:spAutoFit/>
            </a:bodyPr>
            <a:lstStyle/>
            <a:p>
              <a:pPr algn="ctr"/>
              <a:r>
                <a:rPr lang="zh-CN" sz="750" dirty="0">
                  <a:solidFill>
                    <a:srgbClr val="10B981"/>
                  </a:solidFill>
                  <a:latin typeface="Arial"/>
                  <a:ea typeface="Microsoft YaHei"/>
                  <a:cs typeface="Arial"/>
                </a:rPr>
                <a:t>免驱</a:t>
              </a:r>
            </a:p>
          </p:txBody>
        </p:sp>
        <p:sp>
          <p:nvSpPr>
            <p:cNvPr id="42" name="Rectangle 42"/>
            <p:cNvSpPr/>
            <p:nvPr/>
          </p:nvSpPr>
          <p:spPr>
            <a:xfrm>
              <a:off x="2762250" y="5314950"/>
              <a:ext cx="476250" cy="190500"/>
            </a:xfrm>
            <a:prstGeom prst="roundRect">
              <a:avLst>
                <a:gd name="adj" fmla="val 50000"/>
              </a:avLst>
            </a:prstGeom>
            <a:solidFill>
              <a:srgbClr val="FFFFFF"/>
            </a:solidFill>
            <a:ln w="9525">
              <a:solidFill>
                <a:srgbClr val="10B981"/>
              </a:solidFill>
            </a:ln>
          </p:spPr>
        </p:sp>
        <p:sp>
          <p:nvSpPr>
            <p:cNvPr id="43" name="TextBox 43"/>
            <p:cNvSpPr txBox="1"/>
            <p:nvPr/>
          </p:nvSpPr>
          <p:spPr>
            <a:xfrm>
              <a:off x="2890838" y="5367338"/>
              <a:ext cx="219075" cy="152400"/>
            </a:xfrm>
            <a:prstGeom prst="rect">
              <a:avLst/>
            </a:prstGeom>
            <a:noFill/>
            <a:ln>
              <a:noFill/>
            </a:ln>
          </p:spPr>
          <p:txBody>
            <a:bodyPr wrap="none" lIns="0" tIns="0" rIns="0" bIns="0" anchor="t" anchorCtr="0">
              <a:spAutoFit/>
            </a:bodyPr>
            <a:lstStyle/>
            <a:p>
              <a:pPr algn="ctr"/>
              <a:r>
                <a:rPr lang="zh-CN" sz="750" dirty="0">
                  <a:solidFill>
                    <a:srgbClr val="10B981"/>
                  </a:solidFill>
                  <a:latin typeface="Arial"/>
                  <a:ea typeface="Microsoft YaHei"/>
                  <a:cs typeface="Arial"/>
                </a:rPr>
                <a:t>即插</a:t>
              </a:r>
            </a:p>
          </p:txBody>
        </p:sp>
      </p:grpSp>
      <p:sp>
        <p:nvSpPr>
          <p:cNvPr id="45" name="Rectangle 45"/>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2427418"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HARDWARE SOLUTION</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04 / 09</a:t>
            </a:r>
          </a:p>
        </p:txBody>
      </p:sp>
      <p:sp>
        <p:nvSpPr>
          <p:cNvPr id="6" name="Rectangle 6"/>
          <p:cNvSpPr/>
          <p:nvPr/>
        </p:nvSpPr>
        <p:spPr>
          <a:xfrm>
            <a:off x="571500" y="523875"/>
            <a:ext cx="762000" cy="28575"/>
          </a:xfrm>
          <a:prstGeom prst="rect">
            <a:avLst/>
          </a:prstGeom>
          <a:solidFill>
            <a:srgbClr val="2563EB"/>
          </a:solidFill>
          <a:ln>
            <a:noFill/>
          </a:ln>
        </p:spPr>
      </p:sp>
      <p:grpSp>
        <p:nvGrpSpPr>
          <p:cNvPr id="14" name="Group 14"/>
          <p:cNvGrpSpPr/>
          <p:nvPr/>
        </p:nvGrpSpPr>
        <p:grpSpPr>
          <a:xfrm>
            <a:off x="571500" y="857250"/>
            <a:ext cx="3429000" cy="1238250"/>
            <a:chOff x="571500" y="857250"/>
            <a:chExt cx="3429000" cy="1238250"/>
          </a:xfrm>
        </p:grpSpPr>
        <p:sp>
          <p:nvSpPr>
            <p:cNvPr id="7" name="Rectangle 7"/>
            <p:cNvSpPr/>
            <p:nvPr/>
          </p:nvSpPr>
          <p:spPr>
            <a:xfrm>
              <a:off x="571500" y="857250"/>
              <a:ext cx="3429000" cy="1238250"/>
            </a:xfrm>
            <a:prstGeom prst="roundRect">
              <a:avLst>
                <a:gd name="adj" fmla="val 6154"/>
              </a:avLst>
            </a:prstGeom>
            <a:solidFill>
              <a:srgbClr val="F5F7FA"/>
            </a:solidFill>
            <a:ln w="9525">
              <a:solidFill>
                <a:srgbClr val="E5E7EB"/>
              </a:solidFill>
            </a:ln>
          </p:spPr>
        </p:sp>
        <p:sp>
          <p:nvSpPr>
            <p:cNvPr id="8" name="Rectangle 8"/>
            <p:cNvSpPr/>
            <p:nvPr/>
          </p:nvSpPr>
          <p:spPr>
            <a:xfrm>
              <a:off x="571500" y="857250"/>
              <a:ext cx="38100" cy="1238250"/>
            </a:xfrm>
            <a:prstGeom prst="roundRect">
              <a:avLst>
                <a:gd name="adj" fmla="val 50000"/>
              </a:avLst>
            </a:prstGeom>
            <a:solidFill>
              <a:srgbClr val="1E3A5F"/>
            </a:solidFill>
            <a:ln>
              <a:noFill/>
            </a:ln>
          </p:spPr>
        </p:sp>
        <p:sp>
          <p:nvSpPr>
            <p:cNvPr id="9" name="TextBox 9"/>
            <p:cNvSpPr txBox="1"/>
            <p:nvPr/>
          </p:nvSpPr>
          <p:spPr>
            <a:xfrm>
              <a:off x="797242" y="1037749"/>
              <a:ext cx="674846"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核心控制器</a:t>
              </a:r>
            </a:p>
          </p:txBody>
        </p:sp>
        <p:sp>
          <p:nvSpPr>
            <p:cNvPr id="10" name="TextBox 10"/>
            <p:cNvSpPr txBox="1"/>
            <p:nvPr/>
          </p:nvSpPr>
          <p:spPr>
            <a:xfrm>
              <a:off x="794385" y="1251585"/>
              <a:ext cx="1467060"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Arduino Pro Micro</a:t>
              </a:r>
            </a:p>
          </p:txBody>
        </p:sp>
        <p:sp>
          <p:nvSpPr>
            <p:cNvPr id="11" name="TextBox 11"/>
            <p:cNvSpPr txBox="1"/>
            <p:nvPr/>
          </p:nvSpPr>
          <p:spPr>
            <a:xfrm>
              <a:off x="799148" y="1530191"/>
              <a:ext cx="112109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ATmega32U4 主控芯片</a:t>
              </a:r>
            </a:p>
          </p:txBody>
        </p:sp>
        <p:sp>
          <p:nvSpPr>
            <p:cNvPr id="12" name="TextBox 12"/>
            <p:cNvSpPr txBox="1"/>
            <p:nvPr/>
          </p:nvSpPr>
          <p:spPr>
            <a:xfrm>
              <a:off x="799148" y="1701641"/>
              <a:ext cx="86256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USB HID 原生支持</a:t>
              </a:r>
            </a:p>
          </p:txBody>
        </p:sp>
        <p:sp>
          <p:nvSpPr>
            <p:cNvPr id="13" name="TextBox 13"/>
            <p:cNvSpPr txBox="1"/>
            <p:nvPr/>
          </p:nvSpPr>
          <p:spPr>
            <a:xfrm>
              <a:off x="799148" y="1873091"/>
              <a:ext cx="103858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5V / 16MHz 工作电压</a:t>
              </a:r>
            </a:p>
          </p:txBody>
        </p:sp>
      </p:grpSp>
      <p:grpSp>
        <p:nvGrpSpPr>
          <p:cNvPr id="22" name="Group 22"/>
          <p:cNvGrpSpPr/>
          <p:nvPr/>
        </p:nvGrpSpPr>
        <p:grpSpPr>
          <a:xfrm>
            <a:off x="4191000" y="857250"/>
            <a:ext cx="3429000" cy="1238250"/>
            <a:chOff x="4191000" y="857250"/>
            <a:chExt cx="3429000" cy="1238250"/>
          </a:xfrm>
        </p:grpSpPr>
        <p:sp>
          <p:nvSpPr>
            <p:cNvPr id="15" name="Rectangle 15"/>
            <p:cNvSpPr/>
            <p:nvPr/>
          </p:nvSpPr>
          <p:spPr>
            <a:xfrm>
              <a:off x="4191000" y="857250"/>
              <a:ext cx="3429000" cy="1238250"/>
            </a:xfrm>
            <a:prstGeom prst="roundRect">
              <a:avLst>
                <a:gd name="adj" fmla="val 6154"/>
              </a:avLst>
            </a:prstGeom>
            <a:solidFill>
              <a:srgbClr val="F5F7FA"/>
            </a:solidFill>
            <a:ln w="9525">
              <a:solidFill>
                <a:srgbClr val="E5E7EB"/>
              </a:solidFill>
            </a:ln>
          </p:spPr>
        </p:sp>
        <p:sp>
          <p:nvSpPr>
            <p:cNvPr id="16" name="Rectangle 16"/>
            <p:cNvSpPr/>
            <p:nvPr/>
          </p:nvSpPr>
          <p:spPr>
            <a:xfrm>
              <a:off x="4191000" y="857250"/>
              <a:ext cx="38100" cy="1238250"/>
            </a:xfrm>
            <a:prstGeom prst="roundRect">
              <a:avLst>
                <a:gd name="adj" fmla="val 50000"/>
              </a:avLst>
            </a:prstGeom>
            <a:solidFill>
              <a:srgbClr val="2563EB"/>
            </a:solidFill>
            <a:ln>
              <a:noFill/>
            </a:ln>
          </p:spPr>
        </p:sp>
        <p:sp>
          <p:nvSpPr>
            <p:cNvPr id="17" name="TextBox 17"/>
            <p:cNvSpPr txBox="1"/>
            <p:nvPr/>
          </p:nvSpPr>
          <p:spPr>
            <a:xfrm>
              <a:off x="4416742" y="1037749"/>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外壳支架</a:t>
              </a:r>
            </a:p>
          </p:txBody>
        </p:sp>
        <p:sp>
          <p:nvSpPr>
            <p:cNvPr id="18" name="TextBox 18"/>
            <p:cNvSpPr txBox="1"/>
            <p:nvPr/>
          </p:nvSpPr>
          <p:spPr>
            <a:xfrm>
              <a:off x="4413885" y="1251585"/>
              <a:ext cx="937793"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3D 打印支座</a:t>
              </a:r>
            </a:p>
          </p:txBody>
        </p:sp>
        <p:sp>
          <p:nvSpPr>
            <p:cNvPr id="19" name="TextBox 19"/>
            <p:cNvSpPr txBox="1"/>
            <p:nvPr/>
          </p:nvSpPr>
          <p:spPr>
            <a:xfrm>
              <a:off x="4418648" y="1530191"/>
              <a:ext cx="516017"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PLA+ 材质</a:t>
              </a:r>
            </a:p>
          </p:txBody>
        </p:sp>
        <p:sp>
          <p:nvSpPr>
            <p:cNvPr id="20" name="TextBox 20"/>
            <p:cNvSpPr txBox="1"/>
            <p:nvPr/>
          </p:nvSpPr>
          <p:spPr>
            <a:xfrm>
              <a:off x="4418648" y="1701641"/>
              <a:ext cx="68103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精准贴合把手</a:t>
              </a:r>
            </a:p>
          </p:txBody>
        </p:sp>
        <p:sp>
          <p:nvSpPr>
            <p:cNvPr id="21" name="TextBox 21"/>
            <p:cNvSpPr txBox="1"/>
            <p:nvPr/>
          </p:nvSpPr>
          <p:spPr>
            <a:xfrm>
              <a:off x="4418648" y="1873091"/>
              <a:ext cx="675537"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支持logo定制</a:t>
              </a:r>
            </a:p>
          </p:txBody>
        </p:sp>
      </p:grpSp>
      <p:grpSp>
        <p:nvGrpSpPr>
          <p:cNvPr id="30" name="Group 30"/>
          <p:cNvGrpSpPr/>
          <p:nvPr/>
        </p:nvGrpSpPr>
        <p:grpSpPr>
          <a:xfrm>
            <a:off x="7810500" y="857250"/>
            <a:ext cx="3429000" cy="1238250"/>
            <a:chOff x="7810500" y="857250"/>
            <a:chExt cx="3429000" cy="1238250"/>
          </a:xfrm>
        </p:grpSpPr>
        <p:sp>
          <p:nvSpPr>
            <p:cNvPr id="23" name="Rectangle 23"/>
            <p:cNvSpPr/>
            <p:nvPr/>
          </p:nvSpPr>
          <p:spPr>
            <a:xfrm>
              <a:off x="7810500" y="857250"/>
              <a:ext cx="3429000" cy="1238250"/>
            </a:xfrm>
            <a:prstGeom prst="roundRect">
              <a:avLst>
                <a:gd name="adj" fmla="val 6154"/>
              </a:avLst>
            </a:prstGeom>
            <a:solidFill>
              <a:srgbClr val="F5F7FA"/>
            </a:solidFill>
            <a:ln w="9525">
              <a:solidFill>
                <a:srgbClr val="E5E7EB"/>
              </a:solidFill>
            </a:ln>
          </p:spPr>
        </p:sp>
        <p:sp>
          <p:nvSpPr>
            <p:cNvPr id="24" name="Rectangle 24"/>
            <p:cNvSpPr/>
            <p:nvPr/>
          </p:nvSpPr>
          <p:spPr>
            <a:xfrm>
              <a:off x="7810500" y="857250"/>
              <a:ext cx="38100" cy="1238250"/>
            </a:xfrm>
            <a:prstGeom prst="roundRect">
              <a:avLst>
                <a:gd name="adj" fmla="val 50000"/>
              </a:avLst>
            </a:prstGeom>
            <a:solidFill>
              <a:srgbClr val="10B981"/>
            </a:solidFill>
            <a:ln>
              <a:noFill/>
            </a:ln>
          </p:spPr>
        </p:sp>
        <p:sp>
          <p:nvSpPr>
            <p:cNvPr id="25" name="TextBox 25"/>
            <p:cNvSpPr txBox="1"/>
            <p:nvPr/>
          </p:nvSpPr>
          <p:spPr>
            <a:xfrm>
              <a:off x="8036242" y="1037749"/>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角度检测</a:t>
              </a:r>
            </a:p>
          </p:txBody>
        </p:sp>
        <p:sp>
          <p:nvSpPr>
            <p:cNvPr id="26" name="TextBox 26"/>
            <p:cNvSpPr txBox="1"/>
            <p:nvPr/>
          </p:nvSpPr>
          <p:spPr>
            <a:xfrm>
              <a:off x="8033385" y="1251585"/>
              <a:ext cx="870585"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霍尔传感器</a:t>
              </a:r>
            </a:p>
          </p:txBody>
        </p:sp>
        <p:sp>
          <p:nvSpPr>
            <p:cNvPr id="27" name="TextBox 27"/>
            <p:cNvSpPr txBox="1"/>
            <p:nvPr/>
          </p:nvSpPr>
          <p:spPr>
            <a:xfrm>
              <a:off x="8038148" y="1530191"/>
              <a:ext cx="785551"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AH3505 / A1302</a:t>
              </a:r>
            </a:p>
          </p:txBody>
        </p:sp>
        <p:sp>
          <p:nvSpPr>
            <p:cNvPr id="28" name="TextBox 28"/>
            <p:cNvSpPr txBox="1"/>
            <p:nvPr/>
          </p:nvSpPr>
          <p:spPr>
            <a:xfrm>
              <a:off x="8038148" y="1701641"/>
              <a:ext cx="68103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线性霍尔元件</a:t>
              </a:r>
            </a:p>
          </p:txBody>
        </p:sp>
        <p:sp>
          <p:nvSpPr>
            <p:cNvPr id="29" name="TextBox 29"/>
            <p:cNvSpPr txBox="1"/>
            <p:nvPr/>
          </p:nvSpPr>
          <p:spPr>
            <a:xfrm>
              <a:off x="8038148" y="1873091"/>
              <a:ext cx="68103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高灵敏度可选</a:t>
              </a:r>
            </a:p>
          </p:txBody>
        </p:sp>
      </p:grpSp>
      <p:grpSp>
        <p:nvGrpSpPr>
          <p:cNvPr id="38" name="Group 38"/>
          <p:cNvGrpSpPr/>
          <p:nvPr/>
        </p:nvGrpSpPr>
        <p:grpSpPr>
          <a:xfrm>
            <a:off x="571500" y="2238375"/>
            <a:ext cx="3429000" cy="1238250"/>
            <a:chOff x="571500" y="2238375"/>
            <a:chExt cx="3429000" cy="1238250"/>
          </a:xfrm>
        </p:grpSpPr>
        <p:sp>
          <p:nvSpPr>
            <p:cNvPr id="31" name="Rectangle 31"/>
            <p:cNvSpPr/>
            <p:nvPr/>
          </p:nvSpPr>
          <p:spPr>
            <a:xfrm>
              <a:off x="571500" y="2238375"/>
              <a:ext cx="3429000" cy="1238250"/>
            </a:xfrm>
            <a:prstGeom prst="roundRect">
              <a:avLst>
                <a:gd name="adj" fmla="val 6154"/>
              </a:avLst>
            </a:prstGeom>
            <a:solidFill>
              <a:srgbClr val="F5F7FA"/>
            </a:solidFill>
            <a:ln w="9525">
              <a:solidFill>
                <a:srgbClr val="E5E7EB"/>
              </a:solidFill>
            </a:ln>
          </p:spPr>
        </p:sp>
        <p:sp>
          <p:nvSpPr>
            <p:cNvPr id="32" name="Rectangle 32"/>
            <p:cNvSpPr/>
            <p:nvPr/>
          </p:nvSpPr>
          <p:spPr>
            <a:xfrm>
              <a:off x="571500" y="2238375"/>
              <a:ext cx="38100" cy="1238250"/>
            </a:xfrm>
            <a:prstGeom prst="roundRect">
              <a:avLst>
                <a:gd name="adj" fmla="val 50000"/>
              </a:avLst>
            </a:prstGeom>
            <a:solidFill>
              <a:srgbClr val="3B82F6"/>
            </a:solidFill>
            <a:ln>
              <a:noFill/>
            </a:ln>
          </p:spPr>
        </p:sp>
        <p:sp>
          <p:nvSpPr>
            <p:cNvPr id="33" name="TextBox 33"/>
            <p:cNvSpPr txBox="1"/>
            <p:nvPr/>
          </p:nvSpPr>
          <p:spPr>
            <a:xfrm>
              <a:off x="797242" y="2418874"/>
              <a:ext cx="544830"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触发磁铁</a:t>
              </a:r>
            </a:p>
          </p:txBody>
        </p:sp>
        <p:sp>
          <p:nvSpPr>
            <p:cNvPr id="34" name="TextBox 34"/>
            <p:cNvSpPr txBox="1"/>
            <p:nvPr/>
          </p:nvSpPr>
          <p:spPr>
            <a:xfrm>
              <a:off x="794385" y="2632710"/>
              <a:ext cx="870585" cy="243840"/>
            </a:xfrm>
            <a:prstGeom prst="rect">
              <a:avLst/>
            </a:prstGeom>
            <a:noFill/>
            <a:ln>
              <a:noFill/>
            </a:ln>
          </p:spPr>
          <p:txBody>
            <a:bodyPr wrap="none" lIns="0" tIns="0" rIns="0" bIns="0" anchor="t" anchorCtr="0">
              <a:spAutoFit/>
            </a:bodyPr>
            <a:lstStyle/>
            <a:p>
              <a:pPr algn="l"/>
              <a:r>
                <a:rPr lang="zh-CN" sz="1200" b="1" dirty="0">
                  <a:solidFill>
                    <a:srgbClr val="1F2937"/>
                  </a:solidFill>
                  <a:latin typeface="Segoe UI"/>
                  <a:ea typeface="SimHei"/>
                  <a:cs typeface="Segoe UI"/>
                </a:rPr>
                <a:t>强磁吸安装</a:t>
              </a:r>
            </a:p>
          </p:txBody>
        </p:sp>
        <p:sp>
          <p:nvSpPr>
            <p:cNvPr id="35" name="TextBox 35"/>
            <p:cNvSpPr txBox="1"/>
            <p:nvPr/>
          </p:nvSpPr>
          <p:spPr>
            <a:xfrm>
              <a:off x="799148" y="2911316"/>
              <a:ext cx="57102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圆形钕磁铁</a:t>
              </a:r>
            </a:p>
          </p:txBody>
        </p:sp>
        <p:sp>
          <p:nvSpPr>
            <p:cNvPr id="36" name="TextBox 36"/>
            <p:cNvSpPr txBox="1"/>
            <p:nvPr/>
          </p:nvSpPr>
          <p:spPr>
            <a:xfrm>
              <a:off x="799148" y="3082766"/>
              <a:ext cx="46101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免胶粘贴</a:t>
              </a:r>
            </a:p>
          </p:txBody>
        </p:sp>
        <p:sp>
          <p:nvSpPr>
            <p:cNvPr id="37" name="TextBox 37"/>
            <p:cNvSpPr txBox="1"/>
            <p:nvPr/>
          </p:nvSpPr>
          <p:spPr>
            <a:xfrm>
              <a:off x="799148" y="3254216"/>
              <a:ext cx="57102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可调节位置</a:t>
              </a:r>
            </a:p>
          </p:txBody>
        </p:sp>
      </p:grpSp>
      <p:grpSp>
        <p:nvGrpSpPr>
          <p:cNvPr id="70" name="Group 70"/>
          <p:cNvGrpSpPr/>
          <p:nvPr/>
        </p:nvGrpSpPr>
        <p:grpSpPr>
          <a:xfrm>
            <a:off x="571500" y="3619500"/>
            <a:ext cx="10668000" cy="2095500"/>
            <a:chOff x="571500" y="3619500"/>
            <a:chExt cx="10668000" cy="2095500"/>
          </a:xfrm>
        </p:grpSpPr>
        <p:sp>
          <p:nvSpPr>
            <p:cNvPr id="39" name="Rectangle 39"/>
            <p:cNvSpPr/>
            <p:nvPr/>
          </p:nvSpPr>
          <p:spPr>
            <a:xfrm>
              <a:off x="571500" y="3619500"/>
              <a:ext cx="10668000" cy="2095500"/>
            </a:xfrm>
            <a:prstGeom prst="roundRect">
              <a:avLst>
                <a:gd name="adj" fmla="val 3636"/>
              </a:avLst>
            </a:prstGeom>
            <a:solidFill>
              <a:srgbClr val="FFFFFF"/>
            </a:solidFill>
            <a:ln w="9525">
              <a:solidFill>
                <a:srgbClr val="E5E7EB"/>
              </a:solidFill>
            </a:ln>
          </p:spPr>
        </p:sp>
        <p:sp>
          <p:nvSpPr>
            <p:cNvPr id="40" name="TextBox 40"/>
            <p:cNvSpPr txBox="1"/>
            <p:nvPr/>
          </p:nvSpPr>
          <p:spPr>
            <a:xfrm>
              <a:off x="794385" y="3823335"/>
              <a:ext cx="702564"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Segoe UI"/>
                  <a:ea typeface="SimHei"/>
                  <a:cs typeface="Segoe UI"/>
                </a:rPr>
                <a:t>工作原理</a:t>
              </a:r>
            </a:p>
          </p:txBody>
        </p:sp>
        <p:grpSp>
          <p:nvGrpSpPr>
            <p:cNvPr id="60" name="Group 60"/>
            <p:cNvGrpSpPr/>
            <p:nvPr/>
          </p:nvGrpSpPr>
          <p:grpSpPr>
            <a:xfrm>
              <a:off x="1381125" y="4476750"/>
              <a:ext cx="5143500" cy="571500"/>
              <a:chOff x="1381125" y="4476750"/>
              <a:chExt cx="5143500" cy="571500"/>
            </a:xfrm>
          </p:grpSpPr>
          <p:sp>
            <p:nvSpPr>
              <p:cNvPr id="41" name="Ellipse 41"/>
              <p:cNvSpPr/>
              <p:nvPr/>
            </p:nvSpPr>
            <p:spPr>
              <a:xfrm>
                <a:off x="1381125" y="4476750"/>
                <a:ext cx="571500" cy="571500"/>
              </a:xfrm>
              <a:prstGeom prst="ellipse">
                <a:avLst/>
              </a:prstGeom>
              <a:solidFill>
                <a:srgbClr val="F5F7FA"/>
              </a:solidFill>
              <a:ln w="19050">
                <a:solidFill>
                  <a:srgbClr val="1E3A5F"/>
                </a:solidFill>
              </a:ln>
            </p:spPr>
          </p:sp>
          <p:sp>
            <p:nvSpPr>
              <p:cNvPr id="42" name="TextBox 42"/>
              <p:cNvSpPr txBox="1"/>
              <p:nvPr/>
            </p:nvSpPr>
            <p:spPr>
              <a:xfrm>
                <a:off x="1540883" y="4721066"/>
                <a:ext cx="251984" cy="167640"/>
              </a:xfrm>
              <a:prstGeom prst="rect">
                <a:avLst/>
              </a:prstGeom>
              <a:noFill/>
              <a:ln>
                <a:noFill/>
              </a:ln>
            </p:spPr>
            <p:txBody>
              <a:bodyPr wrap="none" lIns="0" tIns="0" rIns="0" bIns="0" anchor="t" anchorCtr="0">
                <a:spAutoFit/>
              </a:bodyPr>
              <a:lstStyle/>
              <a:p>
                <a:pPr algn="ctr"/>
                <a:r>
                  <a:rPr lang="zh-CN" sz="825" b="1" dirty="0">
                    <a:solidFill>
                      <a:srgbClr val="1E3A5F"/>
                    </a:solidFill>
                    <a:latin typeface="Arial"/>
                    <a:ea typeface="Microsoft YaHei"/>
                    <a:cs typeface="Arial"/>
                  </a:rPr>
                  <a:t>手把</a:t>
                </a:r>
              </a:p>
            </p:txBody>
          </p:sp>
          <p:sp>
            <p:nvSpPr>
              <p:cNvPr id="43" name="TextBox 43"/>
              <p:cNvSpPr txBox="1"/>
              <p:nvPr/>
            </p:nvSpPr>
            <p:spPr>
              <a:xfrm>
                <a:off x="1557338" y="4852988"/>
                <a:ext cx="219075" cy="152400"/>
              </a:xfrm>
              <a:prstGeom prst="rect">
                <a:avLst/>
              </a:prstGeom>
              <a:noFill/>
              <a:ln>
                <a:noFill/>
              </a:ln>
            </p:spPr>
            <p:txBody>
              <a:bodyPr wrap="none" lIns="0" tIns="0" rIns="0" bIns="0" anchor="t" anchorCtr="0">
                <a:spAutoFit/>
              </a:bodyPr>
              <a:lstStyle/>
              <a:p>
                <a:pPr algn="ctr"/>
                <a:r>
                  <a:rPr lang="zh-CN" sz="750" dirty="0">
                    <a:solidFill>
                      <a:srgbClr val="1E3A5F"/>
                    </a:solidFill>
                    <a:latin typeface="Arial"/>
                    <a:ea typeface="Microsoft YaHei"/>
                    <a:cs typeface="Arial"/>
                  </a:rPr>
                  <a:t>旋转</a:t>
                </a:r>
              </a:p>
            </p:txBody>
          </p:sp>
          <p:sp>
            <p:nvSpPr>
              <p:cNvPr id="44" name="Polygon 44"/>
              <p:cNvSpPr/>
              <p:nvPr/>
            </p:nvSpPr>
            <p:spPr>
              <a:xfrm>
                <a:off x="2047875" y="4619625"/>
                <a:ext cx="238125" cy="285750"/>
              </a:xfrm>
              <a:custGeom>
                <a:avLst/>
                <a:gdLst/>
                <a:ahLst/>
                <a:cxnLst/>
                <a:rect l="l" t="t" r="r" b="b"/>
                <a:pathLst>
                  <a:path w="238125" h="285750">
                    <a:moveTo>
                      <a:pt x="0" y="0"/>
                    </a:moveTo>
                    <a:lnTo>
                      <a:pt x="238125" y="142875"/>
                    </a:lnTo>
                    <a:lnTo>
                      <a:pt x="0" y="285750"/>
                    </a:lnTo>
                    <a:close/>
                  </a:path>
                </a:pathLst>
              </a:custGeom>
              <a:solidFill>
                <a:srgbClr val="1E3A5F"/>
              </a:solidFill>
              <a:ln>
                <a:noFill/>
              </a:ln>
            </p:spPr>
          </p:sp>
          <p:sp>
            <p:nvSpPr>
              <p:cNvPr id="45" name="Ellipse 45"/>
              <p:cNvSpPr/>
              <p:nvPr/>
            </p:nvSpPr>
            <p:spPr>
              <a:xfrm>
                <a:off x="2524125" y="4476750"/>
                <a:ext cx="571500" cy="571500"/>
              </a:xfrm>
              <a:prstGeom prst="ellipse">
                <a:avLst/>
              </a:prstGeom>
              <a:solidFill>
                <a:srgbClr val="F5F7FA"/>
              </a:solidFill>
              <a:ln w="19050">
                <a:solidFill>
                  <a:srgbClr val="2563EB"/>
                </a:solidFill>
              </a:ln>
            </p:spPr>
          </p:sp>
          <p:sp>
            <p:nvSpPr>
              <p:cNvPr id="46" name="TextBox 46"/>
              <p:cNvSpPr txBox="1"/>
              <p:nvPr/>
            </p:nvSpPr>
            <p:spPr>
              <a:xfrm>
                <a:off x="2683883" y="4721066"/>
                <a:ext cx="251984" cy="167640"/>
              </a:xfrm>
              <a:prstGeom prst="rect">
                <a:avLst/>
              </a:prstGeom>
              <a:noFill/>
              <a:ln>
                <a:noFill/>
              </a:ln>
            </p:spPr>
            <p:txBody>
              <a:bodyPr wrap="none" lIns="0" tIns="0" rIns="0" bIns="0" anchor="t" anchorCtr="0">
                <a:spAutoFit/>
              </a:bodyPr>
              <a:lstStyle/>
              <a:p>
                <a:pPr algn="ctr"/>
                <a:r>
                  <a:rPr lang="zh-CN" sz="825" b="1" dirty="0">
                    <a:solidFill>
                      <a:srgbClr val="2563EB"/>
                    </a:solidFill>
                    <a:latin typeface="Arial"/>
                    <a:ea typeface="Microsoft YaHei"/>
                    <a:cs typeface="Arial"/>
                  </a:rPr>
                  <a:t>霍尔</a:t>
                </a:r>
              </a:p>
            </p:txBody>
          </p:sp>
          <p:sp>
            <p:nvSpPr>
              <p:cNvPr id="47" name="TextBox 47"/>
              <p:cNvSpPr txBox="1"/>
              <p:nvPr/>
            </p:nvSpPr>
            <p:spPr>
              <a:xfrm>
                <a:off x="2700338" y="4852988"/>
                <a:ext cx="219075" cy="152400"/>
              </a:xfrm>
              <a:prstGeom prst="rect">
                <a:avLst/>
              </a:prstGeom>
              <a:noFill/>
              <a:ln>
                <a:noFill/>
              </a:ln>
            </p:spPr>
            <p:txBody>
              <a:bodyPr wrap="none" lIns="0" tIns="0" rIns="0" bIns="0" anchor="t" anchorCtr="0">
                <a:spAutoFit/>
              </a:bodyPr>
              <a:lstStyle/>
              <a:p>
                <a:pPr algn="ctr"/>
                <a:r>
                  <a:rPr lang="zh-CN" sz="750" dirty="0">
                    <a:solidFill>
                      <a:srgbClr val="2563EB"/>
                    </a:solidFill>
                    <a:latin typeface="Arial"/>
                    <a:ea typeface="Microsoft YaHei"/>
                    <a:cs typeface="Arial"/>
                  </a:rPr>
                  <a:t>传感</a:t>
                </a:r>
              </a:p>
            </p:txBody>
          </p:sp>
          <p:sp>
            <p:nvSpPr>
              <p:cNvPr id="48" name="Polygon 48"/>
              <p:cNvSpPr/>
              <p:nvPr/>
            </p:nvSpPr>
            <p:spPr>
              <a:xfrm>
                <a:off x="3190875" y="4619625"/>
                <a:ext cx="238125" cy="285750"/>
              </a:xfrm>
              <a:custGeom>
                <a:avLst/>
                <a:gdLst/>
                <a:ahLst/>
                <a:cxnLst/>
                <a:rect l="l" t="t" r="r" b="b"/>
                <a:pathLst>
                  <a:path w="238125" h="285750">
                    <a:moveTo>
                      <a:pt x="0" y="0"/>
                    </a:moveTo>
                    <a:lnTo>
                      <a:pt x="238125" y="142875"/>
                    </a:lnTo>
                    <a:lnTo>
                      <a:pt x="0" y="285750"/>
                    </a:lnTo>
                    <a:close/>
                  </a:path>
                </a:pathLst>
              </a:custGeom>
              <a:solidFill>
                <a:srgbClr val="2563EB"/>
              </a:solidFill>
              <a:ln>
                <a:noFill/>
              </a:ln>
            </p:spPr>
          </p:sp>
          <p:sp>
            <p:nvSpPr>
              <p:cNvPr id="49" name="Ellipse 49"/>
              <p:cNvSpPr/>
              <p:nvPr/>
            </p:nvSpPr>
            <p:spPr>
              <a:xfrm>
                <a:off x="3667125" y="4476750"/>
                <a:ext cx="571500" cy="571500"/>
              </a:xfrm>
              <a:prstGeom prst="ellipse">
                <a:avLst/>
              </a:prstGeom>
              <a:solidFill>
                <a:srgbClr val="F5F7FA"/>
              </a:solidFill>
              <a:ln w="19050">
                <a:solidFill>
                  <a:srgbClr val="10B981"/>
                </a:solidFill>
              </a:ln>
            </p:spPr>
          </p:sp>
          <p:sp>
            <p:nvSpPr>
              <p:cNvPr id="50" name="TextBox 50"/>
              <p:cNvSpPr txBox="1"/>
              <p:nvPr/>
            </p:nvSpPr>
            <p:spPr>
              <a:xfrm>
                <a:off x="3847098" y="4721066"/>
                <a:ext cx="211554" cy="167640"/>
              </a:xfrm>
              <a:prstGeom prst="rect">
                <a:avLst/>
              </a:prstGeom>
              <a:noFill/>
              <a:ln>
                <a:noFill/>
              </a:ln>
            </p:spPr>
            <p:txBody>
              <a:bodyPr wrap="none" lIns="0" tIns="0" rIns="0" bIns="0" anchor="t" anchorCtr="0">
                <a:spAutoFit/>
              </a:bodyPr>
              <a:lstStyle/>
              <a:p>
                <a:pPr algn="ctr"/>
                <a:r>
                  <a:rPr lang="zh-CN" sz="825" b="1" dirty="0">
                    <a:solidFill>
                      <a:srgbClr val="10B981"/>
                    </a:solidFill>
                    <a:latin typeface="Arial"/>
                    <a:ea typeface="Microsoft YaHei"/>
                    <a:cs typeface="Arial"/>
                  </a:rPr>
                  <a:t>ADC</a:t>
                </a:r>
              </a:p>
            </p:txBody>
          </p:sp>
          <p:sp>
            <p:nvSpPr>
              <p:cNvPr id="51" name="TextBox 51"/>
              <p:cNvSpPr txBox="1"/>
              <p:nvPr/>
            </p:nvSpPr>
            <p:spPr>
              <a:xfrm>
                <a:off x="3843338" y="4852988"/>
                <a:ext cx="219075" cy="152400"/>
              </a:xfrm>
              <a:prstGeom prst="rect">
                <a:avLst/>
              </a:prstGeom>
              <a:noFill/>
              <a:ln>
                <a:noFill/>
              </a:ln>
            </p:spPr>
            <p:txBody>
              <a:bodyPr wrap="none" lIns="0" tIns="0" rIns="0" bIns="0" anchor="t" anchorCtr="0">
                <a:spAutoFit/>
              </a:bodyPr>
              <a:lstStyle/>
              <a:p>
                <a:pPr algn="ctr"/>
                <a:r>
                  <a:rPr lang="zh-CN" sz="750" dirty="0">
                    <a:solidFill>
                      <a:srgbClr val="10B981"/>
                    </a:solidFill>
                    <a:latin typeface="Arial"/>
                    <a:ea typeface="Microsoft YaHei"/>
                    <a:cs typeface="Arial"/>
                  </a:rPr>
                  <a:t>采样</a:t>
                </a:r>
              </a:p>
            </p:txBody>
          </p:sp>
          <p:sp>
            <p:nvSpPr>
              <p:cNvPr id="52" name="Polygon 52"/>
              <p:cNvSpPr/>
              <p:nvPr/>
            </p:nvSpPr>
            <p:spPr>
              <a:xfrm>
                <a:off x="4333875" y="4619625"/>
                <a:ext cx="238125" cy="285750"/>
              </a:xfrm>
              <a:custGeom>
                <a:avLst/>
                <a:gdLst/>
                <a:ahLst/>
                <a:cxnLst/>
                <a:rect l="l" t="t" r="r" b="b"/>
                <a:pathLst>
                  <a:path w="238125" h="285750">
                    <a:moveTo>
                      <a:pt x="0" y="0"/>
                    </a:moveTo>
                    <a:lnTo>
                      <a:pt x="238125" y="142875"/>
                    </a:lnTo>
                    <a:lnTo>
                      <a:pt x="0" y="285750"/>
                    </a:lnTo>
                    <a:close/>
                  </a:path>
                </a:pathLst>
              </a:custGeom>
              <a:solidFill>
                <a:srgbClr val="10B981"/>
              </a:solidFill>
              <a:ln>
                <a:noFill/>
              </a:ln>
            </p:spPr>
          </p:sp>
          <p:sp>
            <p:nvSpPr>
              <p:cNvPr id="53" name="Ellipse 53"/>
              <p:cNvSpPr/>
              <p:nvPr/>
            </p:nvSpPr>
            <p:spPr>
              <a:xfrm>
                <a:off x="4810125" y="4476750"/>
                <a:ext cx="571500" cy="571500"/>
              </a:xfrm>
              <a:prstGeom prst="ellipse">
                <a:avLst/>
              </a:prstGeom>
              <a:solidFill>
                <a:srgbClr val="F5F7FA"/>
              </a:solidFill>
              <a:ln w="19050">
                <a:solidFill>
                  <a:srgbClr val="EF4444"/>
                </a:solidFill>
              </a:ln>
            </p:spPr>
          </p:sp>
          <p:sp>
            <p:nvSpPr>
              <p:cNvPr id="54" name="TextBox 54"/>
              <p:cNvSpPr txBox="1"/>
              <p:nvPr/>
            </p:nvSpPr>
            <p:spPr>
              <a:xfrm>
                <a:off x="5004537" y="4721066"/>
                <a:ext cx="182675" cy="167640"/>
              </a:xfrm>
              <a:prstGeom prst="rect">
                <a:avLst/>
              </a:prstGeom>
              <a:noFill/>
              <a:ln>
                <a:noFill/>
              </a:ln>
            </p:spPr>
            <p:txBody>
              <a:bodyPr wrap="none" lIns="0" tIns="0" rIns="0" bIns="0" anchor="t" anchorCtr="0">
                <a:spAutoFit/>
              </a:bodyPr>
              <a:lstStyle/>
              <a:p>
                <a:pPr algn="ctr"/>
                <a:r>
                  <a:rPr lang="zh-CN" sz="825" b="1" dirty="0">
                    <a:solidFill>
                      <a:srgbClr val="EF4444"/>
                    </a:solidFill>
                    <a:latin typeface="Arial"/>
                    <a:ea typeface="Microsoft YaHei"/>
                    <a:cs typeface="Arial"/>
                  </a:rPr>
                  <a:t>HID</a:t>
                </a:r>
              </a:p>
            </p:txBody>
          </p:sp>
          <p:sp>
            <p:nvSpPr>
              <p:cNvPr id="55" name="TextBox 55"/>
              <p:cNvSpPr txBox="1"/>
              <p:nvPr/>
            </p:nvSpPr>
            <p:spPr>
              <a:xfrm>
                <a:off x="4986338" y="4852988"/>
                <a:ext cx="219075" cy="152400"/>
              </a:xfrm>
              <a:prstGeom prst="rect">
                <a:avLst/>
              </a:prstGeom>
              <a:noFill/>
              <a:ln>
                <a:noFill/>
              </a:ln>
            </p:spPr>
            <p:txBody>
              <a:bodyPr wrap="none" lIns="0" tIns="0" rIns="0" bIns="0" anchor="t" anchorCtr="0">
                <a:spAutoFit/>
              </a:bodyPr>
              <a:lstStyle/>
              <a:p>
                <a:pPr algn="ctr"/>
                <a:r>
                  <a:rPr lang="zh-CN" sz="750" dirty="0">
                    <a:solidFill>
                      <a:srgbClr val="EF4444"/>
                    </a:solidFill>
                    <a:latin typeface="Arial"/>
                    <a:ea typeface="Microsoft YaHei"/>
                    <a:cs typeface="Arial"/>
                  </a:rPr>
                  <a:t>映射</a:t>
                </a:r>
              </a:p>
            </p:txBody>
          </p:sp>
          <p:sp>
            <p:nvSpPr>
              <p:cNvPr id="56" name="Polygon 56"/>
              <p:cNvSpPr/>
              <p:nvPr/>
            </p:nvSpPr>
            <p:spPr>
              <a:xfrm>
                <a:off x="5476875" y="4619625"/>
                <a:ext cx="238125" cy="285750"/>
              </a:xfrm>
              <a:custGeom>
                <a:avLst/>
                <a:gdLst/>
                <a:ahLst/>
                <a:cxnLst/>
                <a:rect l="l" t="t" r="r" b="b"/>
                <a:pathLst>
                  <a:path w="238125" h="285750">
                    <a:moveTo>
                      <a:pt x="0" y="0"/>
                    </a:moveTo>
                    <a:lnTo>
                      <a:pt x="238125" y="142875"/>
                    </a:lnTo>
                    <a:lnTo>
                      <a:pt x="0" y="285750"/>
                    </a:lnTo>
                    <a:close/>
                  </a:path>
                </a:pathLst>
              </a:custGeom>
              <a:solidFill>
                <a:srgbClr val="EF4444"/>
              </a:solidFill>
              <a:ln>
                <a:noFill/>
              </a:ln>
            </p:spPr>
          </p:sp>
          <p:sp>
            <p:nvSpPr>
              <p:cNvPr id="57" name="Ellipse 57"/>
              <p:cNvSpPr/>
              <p:nvPr/>
            </p:nvSpPr>
            <p:spPr>
              <a:xfrm>
                <a:off x="5953125" y="4476750"/>
                <a:ext cx="571500" cy="571500"/>
              </a:xfrm>
              <a:prstGeom prst="ellipse">
                <a:avLst/>
              </a:prstGeom>
              <a:solidFill>
                <a:srgbClr val="F5F7FA"/>
              </a:solidFill>
              <a:ln w="19050">
                <a:solidFill>
                  <a:srgbClr val="1F2937"/>
                </a:solidFill>
              </a:ln>
            </p:spPr>
          </p:sp>
          <p:sp>
            <p:nvSpPr>
              <p:cNvPr id="58" name="TextBox 58"/>
              <p:cNvSpPr txBox="1"/>
              <p:nvPr/>
            </p:nvSpPr>
            <p:spPr>
              <a:xfrm>
                <a:off x="6133098" y="4721066"/>
                <a:ext cx="211554" cy="167640"/>
              </a:xfrm>
              <a:prstGeom prst="rect">
                <a:avLst/>
              </a:prstGeom>
              <a:noFill/>
              <a:ln>
                <a:noFill/>
              </a:ln>
            </p:spPr>
            <p:txBody>
              <a:bodyPr wrap="none" lIns="0" tIns="0" rIns="0" bIns="0" anchor="t" anchorCtr="0">
                <a:spAutoFit/>
              </a:bodyPr>
              <a:lstStyle/>
              <a:p>
                <a:pPr algn="ctr"/>
                <a:r>
                  <a:rPr lang="zh-CN" sz="825" b="1" dirty="0">
                    <a:solidFill>
                      <a:srgbClr val="1F2937"/>
                    </a:solidFill>
                    <a:latin typeface="Arial"/>
                    <a:ea typeface="Microsoft YaHei"/>
                    <a:cs typeface="Arial"/>
                  </a:rPr>
                  <a:t>USB</a:t>
                </a:r>
              </a:p>
            </p:txBody>
          </p:sp>
          <p:sp>
            <p:nvSpPr>
              <p:cNvPr id="59" name="TextBox 59"/>
              <p:cNvSpPr txBox="1"/>
              <p:nvPr/>
            </p:nvSpPr>
            <p:spPr>
              <a:xfrm>
                <a:off x="6129338" y="4852988"/>
                <a:ext cx="219075" cy="152400"/>
              </a:xfrm>
              <a:prstGeom prst="rect">
                <a:avLst/>
              </a:prstGeom>
              <a:noFill/>
              <a:ln>
                <a:noFill/>
              </a:ln>
            </p:spPr>
            <p:txBody>
              <a:bodyPr wrap="none" lIns="0" tIns="0" rIns="0" bIns="0" anchor="t" anchorCtr="0">
                <a:spAutoFit/>
              </a:bodyPr>
              <a:lstStyle/>
              <a:p>
                <a:pPr algn="ctr"/>
                <a:r>
                  <a:rPr lang="zh-CN" sz="750" dirty="0">
                    <a:solidFill>
                      <a:srgbClr val="1F2937"/>
                    </a:solidFill>
                    <a:latin typeface="Arial"/>
                    <a:ea typeface="Microsoft YaHei"/>
                    <a:cs typeface="Arial"/>
                  </a:rPr>
                  <a:t>输出</a:t>
                </a:r>
              </a:p>
            </p:txBody>
          </p:sp>
        </p:grpSp>
        <p:grpSp>
          <p:nvGrpSpPr>
            <p:cNvPr id="66" name="Group 66"/>
            <p:cNvGrpSpPr/>
            <p:nvPr/>
          </p:nvGrpSpPr>
          <p:grpSpPr>
            <a:xfrm>
              <a:off x="6752272" y="4387691"/>
              <a:ext cx="1231106" cy="977265"/>
              <a:chOff x="6752272" y="4387691"/>
              <a:chExt cx="1231106" cy="977265"/>
            </a:xfrm>
          </p:grpSpPr>
          <p:sp>
            <p:nvSpPr>
              <p:cNvPr id="61" name="TextBox 61"/>
              <p:cNvSpPr txBox="1"/>
              <p:nvPr/>
            </p:nvSpPr>
            <p:spPr>
              <a:xfrm>
                <a:off x="6752272" y="4387691"/>
                <a:ext cx="123110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霍尔传感器产生模拟电压</a:t>
                </a:r>
              </a:p>
            </p:txBody>
          </p:sp>
          <p:sp>
            <p:nvSpPr>
              <p:cNvPr id="62" name="TextBox 62"/>
              <p:cNvSpPr txBox="1"/>
              <p:nvPr/>
            </p:nvSpPr>
            <p:spPr>
              <a:xfrm>
                <a:off x="6752272" y="4578191"/>
                <a:ext cx="121460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Arduino ADC 采样转换为</a:t>
                </a:r>
              </a:p>
            </p:txBody>
          </p:sp>
          <p:sp>
            <p:nvSpPr>
              <p:cNvPr id="63" name="TextBox 63"/>
              <p:cNvSpPr txBox="1"/>
              <p:nvPr/>
            </p:nvSpPr>
            <p:spPr>
              <a:xfrm>
                <a:off x="6752272" y="4721066"/>
                <a:ext cx="123110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数字量并映射为游戏按键</a:t>
                </a:r>
              </a:p>
            </p:txBody>
          </p:sp>
          <p:sp>
            <p:nvSpPr>
              <p:cNvPr id="64" name="TextBox 64"/>
              <p:cNvSpPr txBox="1"/>
              <p:nvPr/>
            </p:nvSpPr>
            <p:spPr>
              <a:xfrm>
                <a:off x="6752272" y="5006816"/>
                <a:ext cx="112109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固定位置确保测量精度</a:t>
                </a:r>
              </a:p>
            </p:txBody>
          </p:sp>
          <p:sp>
            <p:nvSpPr>
              <p:cNvPr id="65" name="TextBox 65"/>
              <p:cNvSpPr txBox="1"/>
              <p:nvPr/>
            </p:nvSpPr>
            <p:spPr>
              <a:xfrm>
                <a:off x="6752272" y="5197316"/>
                <a:ext cx="101107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建议使用热熔胶固定</a:t>
                </a:r>
              </a:p>
            </p:txBody>
          </p:sp>
        </p:grpSp>
        <p:grpSp>
          <p:nvGrpSpPr>
            <p:cNvPr id="69" name="Group 69"/>
            <p:cNvGrpSpPr/>
            <p:nvPr/>
          </p:nvGrpSpPr>
          <p:grpSpPr>
            <a:xfrm>
              <a:off x="809625" y="5238750"/>
              <a:ext cx="10191750" cy="333375"/>
              <a:chOff x="809625" y="5238750"/>
              <a:chExt cx="10191750" cy="333375"/>
            </a:xfrm>
          </p:grpSpPr>
          <p:sp>
            <p:nvSpPr>
              <p:cNvPr id="67" name="Rectangle 67"/>
              <p:cNvSpPr/>
              <p:nvPr/>
            </p:nvSpPr>
            <p:spPr>
              <a:xfrm>
                <a:off x="809625" y="5238750"/>
                <a:ext cx="10191750" cy="333375"/>
              </a:xfrm>
              <a:prstGeom prst="roundRect">
                <a:avLst>
                  <a:gd name="adj" fmla="val 11429"/>
                </a:avLst>
              </a:prstGeom>
              <a:solidFill>
                <a:srgbClr val="F5F7FA"/>
              </a:solidFill>
              <a:ln>
                <a:noFill/>
              </a:ln>
            </p:spPr>
          </p:sp>
          <p:sp>
            <p:nvSpPr>
              <p:cNvPr id="68" name="TextBox 68"/>
              <p:cNvSpPr txBox="1"/>
              <p:nvPr/>
            </p:nvSpPr>
            <p:spPr>
              <a:xfrm>
                <a:off x="942022" y="5359241"/>
                <a:ext cx="4465511" cy="167640"/>
              </a:xfrm>
              <a:prstGeom prst="rect">
                <a:avLst/>
              </a:prstGeom>
              <a:noFill/>
              <a:ln>
                <a:noFill/>
              </a:ln>
            </p:spPr>
            <p:txBody>
              <a:bodyPr wrap="none" lIns="0" tIns="0" rIns="0" bIns="0" anchor="t" anchorCtr="0">
                <a:spAutoFit/>
              </a:bodyPr>
              <a:lstStyle/>
              <a:p>
                <a:pPr algn="l"/>
                <a:r>
                  <a:rPr lang="zh-CN" sz="825" dirty="0">
                    <a:solidFill>
                      <a:srgbClr val="1E3A5F"/>
                    </a:solidFill>
                    <a:latin typeface="Arial"/>
                    <a:ea typeface="Microsoft YaHei"/>
                    <a:cs typeface="Arial"/>
                  </a:rPr>
                  <a:t>技术要点：磁铁转动改变磁场强度 → 霍尔电压变化 → ADC 采样 → 数值映射为游戏手柄信号值</a:t>
                </a:r>
              </a:p>
            </p:txBody>
          </p:sp>
        </p:grpSp>
      </p:grpSp>
      <p:sp>
        <p:nvSpPr>
          <p:cNvPr id="71" name="Rectangle 71"/>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2074574"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GAMEPLAY MODES</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05 / 09</a:t>
            </a:r>
          </a:p>
        </p:txBody>
      </p:sp>
      <p:sp>
        <p:nvSpPr>
          <p:cNvPr id="6" name="Rectangle 6"/>
          <p:cNvSpPr/>
          <p:nvPr/>
        </p:nvSpPr>
        <p:spPr>
          <a:xfrm>
            <a:off x="571500" y="523875"/>
            <a:ext cx="762000" cy="28575"/>
          </a:xfrm>
          <a:prstGeom prst="rect">
            <a:avLst/>
          </a:prstGeom>
          <a:solidFill>
            <a:srgbClr val="2563EB"/>
          </a:solidFill>
          <a:ln>
            <a:noFill/>
          </a:ln>
        </p:spPr>
      </p:sp>
      <p:grpSp>
        <p:nvGrpSpPr>
          <p:cNvPr id="24" name="Group 24"/>
          <p:cNvGrpSpPr/>
          <p:nvPr/>
        </p:nvGrpSpPr>
        <p:grpSpPr>
          <a:xfrm>
            <a:off x="571500" y="857250"/>
            <a:ext cx="5334000" cy="3333750"/>
            <a:chOff x="571500" y="857250"/>
            <a:chExt cx="5334000" cy="3333750"/>
          </a:xfrm>
        </p:grpSpPr>
        <p:sp>
          <p:nvSpPr>
            <p:cNvPr id="7" name="Rectangle 7"/>
            <p:cNvSpPr/>
            <p:nvPr/>
          </p:nvSpPr>
          <p:spPr>
            <a:xfrm>
              <a:off x="571500" y="857250"/>
              <a:ext cx="5334000" cy="3333750"/>
            </a:xfrm>
            <a:prstGeom prst="roundRect">
              <a:avLst>
                <a:gd name="adj" fmla="val 3429"/>
              </a:avLst>
            </a:prstGeom>
            <a:solidFill>
              <a:srgbClr val="F5F7FA"/>
            </a:solidFill>
            <a:ln w="9525">
              <a:solidFill>
                <a:srgbClr val="E5E7EB"/>
              </a:solidFill>
            </a:ln>
          </p:spPr>
        </p:sp>
        <p:sp>
          <p:nvSpPr>
            <p:cNvPr id="8" name="Rectangle 8"/>
            <p:cNvSpPr/>
            <p:nvPr/>
          </p:nvSpPr>
          <p:spPr>
            <a:xfrm>
              <a:off x="571500" y="857250"/>
              <a:ext cx="1143000" cy="476250"/>
            </a:xfrm>
            <a:prstGeom prst="roundRect">
              <a:avLst>
                <a:gd name="adj" fmla="val 24000"/>
              </a:avLst>
            </a:prstGeom>
            <a:solidFill>
              <a:srgbClr val="1E3A5F"/>
            </a:solidFill>
            <a:ln>
              <a:noFill/>
            </a:ln>
          </p:spPr>
        </p:sp>
        <p:sp>
          <p:nvSpPr>
            <p:cNvPr id="9" name="TextBox 9"/>
            <p:cNvSpPr txBox="1"/>
            <p:nvPr/>
          </p:nvSpPr>
          <p:spPr>
            <a:xfrm>
              <a:off x="771436" y="1016318"/>
              <a:ext cx="74312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MODE 01</a:t>
              </a:r>
            </a:p>
          </p:txBody>
        </p:sp>
        <p:sp>
          <p:nvSpPr>
            <p:cNvPr id="10" name="TextBox 10"/>
            <p:cNvSpPr txBox="1"/>
            <p:nvPr/>
          </p:nvSpPr>
          <p:spPr>
            <a:xfrm>
              <a:off x="838200" y="1504950"/>
              <a:ext cx="1298258"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Segoe UI"/>
                  <a:ea typeface="SimHei"/>
                  <a:cs typeface="Segoe UI"/>
                </a:rPr>
                <a:t>刹车映射模式</a:t>
              </a:r>
            </a:p>
          </p:txBody>
        </p:sp>
        <p:sp>
          <p:nvSpPr>
            <p:cNvPr id="11" name="TextBox 11"/>
            <p:cNvSpPr txBox="1"/>
            <p:nvPr/>
          </p:nvSpPr>
          <p:spPr>
            <a:xfrm>
              <a:off x="844868" y="1799749"/>
              <a:ext cx="1194911"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适用场景：赛车游戏</a:t>
              </a:r>
            </a:p>
          </p:txBody>
        </p:sp>
        <p:grpSp>
          <p:nvGrpSpPr>
            <p:cNvPr id="20" name="Group 20"/>
            <p:cNvGrpSpPr/>
            <p:nvPr/>
          </p:nvGrpSpPr>
          <p:grpSpPr>
            <a:xfrm>
              <a:off x="895350" y="2199799"/>
              <a:ext cx="1772602" cy="1055370"/>
              <a:chOff x="895350" y="2199799"/>
              <a:chExt cx="1772602" cy="1055370"/>
            </a:xfrm>
          </p:grpSpPr>
          <p:sp>
            <p:nvSpPr>
              <p:cNvPr id="12" name="Ellipse 12"/>
              <p:cNvSpPr/>
              <p:nvPr/>
            </p:nvSpPr>
            <p:spPr>
              <a:xfrm>
                <a:off x="895350" y="2228850"/>
                <a:ext cx="76200" cy="76200"/>
              </a:xfrm>
              <a:prstGeom prst="ellipse">
                <a:avLst/>
              </a:prstGeom>
              <a:solidFill>
                <a:srgbClr val="2563EB"/>
              </a:solidFill>
              <a:ln>
                <a:noFill/>
              </a:ln>
            </p:spPr>
          </p:sp>
          <p:sp>
            <p:nvSpPr>
              <p:cNvPr id="13" name="TextBox 13"/>
              <p:cNvSpPr txBox="1"/>
              <p:nvPr/>
            </p:nvSpPr>
            <p:spPr>
              <a:xfrm>
                <a:off x="1082992" y="2199799"/>
                <a:ext cx="158496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手把旋转角度对应油门踏板</a:t>
                </a:r>
              </a:p>
            </p:txBody>
          </p:sp>
          <p:sp>
            <p:nvSpPr>
              <p:cNvPr id="14" name="Ellipse 14"/>
              <p:cNvSpPr/>
              <p:nvPr/>
            </p:nvSpPr>
            <p:spPr>
              <a:xfrm>
                <a:off x="895350" y="2514600"/>
                <a:ext cx="76200" cy="76200"/>
              </a:xfrm>
              <a:prstGeom prst="ellipse">
                <a:avLst/>
              </a:prstGeom>
              <a:solidFill>
                <a:srgbClr val="2563EB"/>
              </a:solidFill>
              <a:ln>
                <a:noFill/>
              </a:ln>
            </p:spPr>
          </p:sp>
          <p:sp>
            <p:nvSpPr>
              <p:cNvPr id="15" name="TextBox 15"/>
              <p:cNvSpPr txBox="1"/>
              <p:nvPr/>
            </p:nvSpPr>
            <p:spPr>
              <a:xfrm>
                <a:off x="1082992" y="2485549"/>
                <a:ext cx="1324928"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旋转角度决定油门深度</a:t>
                </a:r>
              </a:p>
            </p:txBody>
          </p:sp>
          <p:sp>
            <p:nvSpPr>
              <p:cNvPr id="16" name="Ellipse 16"/>
              <p:cNvSpPr/>
              <p:nvPr/>
            </p:nvSpPr>
            <p:spPr>
              <a:xfrm>
                <a:off x="895350" y="2800350"/>
                <a:ext cx="76200" cy="76200"/>
              </a:xfrm>
              <a:prstGeom prst="ellipse">
                <a:avLst/>
              </a:prstGeom>
              <a:solidFill>
                <a:srgbClr val="2563EB"/>
              </a:solidFill>
              <a:ln>
                <a:noFill/>
              </a:ln>
            </p:spPr>
          </p:sp>
          <p:sp>
            <p:nvSpPr>
              <p:cNvPr id="17" name="TextBox 17"/>
              <p:cNvSpPr txBox="1"/>
              <p:nvPr/>
            </p:nvSpPr>
            <p:spPr>
              <a:xfrm>
                <a:off x="1082992" y="2771299"/>
                <a:ext cx="980384"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行程范围 0-100%</a:t>
                </a:r>
              </a:p>
            </p:txBody>
          </p:sp>
          <p:sp>
            <p:nvSpPr>
              <p:cNvPr id="18" name="Ellipse 18"/>
              <p:cNvSpPr/>
              <p:nvPr/>
            </p:nvSpPr>
            <p:spPr>
              <a:xfrm>
                <a:off x="895350" y="3086100"/>
                <a:ext cx="76200" cy="76200"/>
              </a:xfrm>
              <a:prstGeom prst="ellipse">
                <a:avLst/>
              </a:prstGeom>
              <a:solidFill>
                <a:srgbClr val="2563EB"/>
              </a:solidFill>
              <a:ln>
                <a:noFill/>
              </a:ln>
            </p:spPr>
          </p:sp>
          <p:sp>
            <p:nvSpPr>
              <p:cNvPr id="19" name="TextBox 19"/>
              <p:cNvSpPr txBox="1"/>
              <p:nvPr/>
            </p:nvSpPr>
            <p:spPr>
              <a:xfrm>
                <a:off x="1082992" y="3057049"/>
                <a:ext cx="934879"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支持灵敏度校准</a:t>
                </a:r>
              </a:p>
            </p:txBody>
          </p:sp>
        </p:grpSp>
        <p:sp>
          <p:nvSpPr>
            <p:cNvPr id="21" name="Rectangle 21"/>
            <p:cNvSpPr/>
            <p:nvPr/>
          </p:nvSpPr>
          <p:spPr>
            <a:xfrm>
              <a:off x="857250" y="3333750"/>
              <a:ext cx="4762500" cy="571500"/>
            </a:xfrm>
            <a:prstGeom prst="roundRect">
              <a:avLst>
                <a:gd name="adj" fmla="val 13333"/>
              </a:avLst>
            </a:prstGeom>
            <a:solidFill>
              <a:srgbClr val="FFFFFF"/>
            </a:solidFill>
            <a:ln w="9525">
              <a:solidFill>
                <a:srgbClr val="2563EB"/>
              </a:solidFill>
            </a:ln>
          </p:spPr>
        </p:sp>
        <p:sp>
          <p:nvSpPr>
            <p:cNvPr id="22" name="TextBox 22"/>
            <p:cNvSpPr txBox="1"/>
            <p:nvPr/>
          </p:nvSpPr>
          <p:spPr>
            <a:xfrm>
              <a:off x="1036320" y="3474720"/>
              <a:ext cx="526923" cy="182880"/>
            </a:xfrm>
            <a:prstGeom prst="rect">
              <a:avLst/>
            </a:prstGeom>
            <a:noFill/>
            <a:ln>
              <a:noFill/>
            </a:ln>
          </p:spPr>
          <p:txBody>
            <a:bodyPr wrap="none" lIns="0" tIns="0" rIns="0" bIns="0" anchor="t" anchorCtr="0">
              <a:spAutoFit/>
            </a:bodyPr>
            <a:lstStyle/>
            <a:p>
              <a:pPr algn="l"/>
              <a:r>
                <a:rPr lang="zh-CN" sz="900" b="1" dirty="0">
                  <a:solidFill>
                    <a:srgbClr val="2563EB"/>
                  </a:solidFill>
                  <a:latin typeface="Arial"/>
                  <a:ea typeface="Microsoft YaHei"/>
                  <a:cs typeface="Arial"/>
                </a:rPr>
                <a:t>推荐游戏</a:t>
              </a:r>
            </a:p>
          </p:txBody>
        </p:sp>
        <p:sp>
          <p:nvSpPr>
            <p:cNvPr id="23" name="TextBox 23"/>
            <p:cNvSpPr txBox="1"/>
            <p:nvPr/>
          </p:nvSpPr>
          <p:spPr>
            <a:xfrm>
              <a:off x="1037272" y="3673316"/>
              <a:ext cx="231474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Assetto Corsa · iRacing · F1 系列 · 极限竞速</a:t>
              </a:r>
            </a:p>
          </p:txBody>
        </p:sp>
      </p:grpSp>
      <p:grpSp>
        <p:nvGrpSpPr>
          <p:cNvPr id="42" name="Group 42"/>
          <p:cNvGrpSpPr/>
          <p:nvPr/>
        </p:nvGrpSpPr>
        <p:grpSpPr>
          <a:xfrm>
            <a:off x="6286500" y="857250"/>
            <a:ext cx="5334000" cy="3333750"/>
            <a:chOff x="6286500" y="857250"/>
            <a:chExt cx="5334000" cy="3333750"/>
          </a:xfrm>
        </p:grpSpPr>
        <p:sp>
          <p:nvSpPr>
            <p:cNvPr id="25" name="Rectangle 25"/>
            <p:cNvSpPr/>
            <p:nvPr/>
          </p:nvSpPr>
          <p:spPr>
            <a:xfrm>
              <a:off x="6286500" y="857250"/>
              <a:ext cx="5334000" cy="3333750"/>
            </a:xfrm>
            <a:prstGeom prst="roundRect">
              <a:avLst>
                <a:gd name="adj" fmla="val 3429"/>
              </a:avLst>
            </a:prstGeom>
            <a:solidFill>
              <a:srgbClr val="F5F7FA"/>
            </a:solidFill>
            <a:ln w="9525">
              <a:solidFill>
                <a:srgbClr val="E5E7EB"/>
              </a:solidFill>
            </a:ln>
          </p:spPr>
        </p:sp>
        <p:sp>
          <p:nvSpPr>
            <p:cNvPr id="26" name="Rectangle 26"/>
            <p:cNvSpPr/>
            <p:nvPr/>
          </p:nvSpPr>
          <p:spPr>
            <a:xfrm>
              <a:off x="6286500" y="857250"/>
              <a:ext cx="1143000" cy="476250"/>
            </a:xfrm>
            <a:prstGeom prst="roundRect">
              <a:avLst>
                <a:gd name="adj" fmla="val 24000"/>
              </a:avLst>
            </a:prstGeom>
            <a:solidFill>
              <a:srgbClr val="EF4444"/>
            </a:solidFill>
            <a:ln>
              <a:noFill/>
            </a:ln>
          </p:spPr>
        </p:sp>
        <p:sp>
          <p:nvSpPr>
            <p:cNvPr id="27" name="TextBox 27"/>
            <p:cNvSpPr txBox="1"/>
            <p:nvPr/>
          </p:nvSpPr>
          <p:spPr>
            <a:xfrm>
              <a:off x="6462808" y="10163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MODE 02</a:t>
              </a:r>
            </a:p>
          </p:txBody>
        </p:sp>
        <p:sp>
          <p:nvSpPr>
            <p:cNvPr id="28" name="TextBox 28"/>
            <p:cNvSpPr txBox="1"/>
            <p:nvPr/>
          </p:nvSpPr>
          <p:spPr>
            <a:xfrm>
              <a:off x="6553200" y="1504950"/>
              <a:ext cx="1298258"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Segoe UI"/>
                  <a:ea typeface="SimHei"/>
                  <a:cs typeface="Segoe UI"/>
                </a:rPr>
                <a:t>改装战斗模式</a:t>
              </a:r>
            </a:p>
          </p:txBody>
        </p:sp>
        <p:sp>
          <p:nvSpPr>
            <p:cNvPr id="29" name="TextBox 29"/>
            <p:cNvSpPr txBox="1"/>
            <p:nvPr/>
          </p:nvSpPr>
          <p:spPr>
            <a:xfrm>
              <a:off x="6559868" y="1799749"/>
              <a:ext cx="160446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适用场景：桌游 / 双人对战</a:t>
              </a:r>
            </a:p>
          </p:txBody>
        </p:sp>
        <p:grpSp>
          <p:nvGrpSpPr>
            <p:cNvPr id="38" name="Group 38"/>
            <p:cNvGrpSpPr/>
            <p:nvPr/>
          </p:nvGrpSpPr>
          <p:grpSpPr>
            <a:xfrm>
              <a:off x="6610350" y="2199799"/>
              <a:ext cx="1252537" cy="1055370"/>
              <a:chOff x="6610350" y="2199799"/>
              <a:chExt cx="1252537" cy="1055370"/>
            </a:xfrm>
          </p:grpSpPr>
          <p:sp>
            <p:nvSpPr>
              <p:cNvPr id="30" name="Ellipse 30"/>
              <p:cNvSpPr/>
              <p:nvPr/>
            </p:nvSpPr>
            <p:spPr>
              <a:xfrm>
                <a:off x="6610350" y="2228850"/>
                <a:ext cx="76200" cy="76200"/>
              </a:xfrm>
              <a:prstGeom prst="ellipse">
                <a:avLst/>
              </a:prstGeom>
              <a:solidFill>
                <a:srgbClr val="EF4444"/>
              </a:solidFill>
              <a:ln>
                <a:noFill/>
              </a:ln>
            </p:spPr>
          </p:sp>
          <p:sp>
            <p:nvSpPr>
              <p:cNvPr id="31" name="TextBox 31"/>
              <p:cNvSpPr txBox="1"/>
              <p:nvPr/>
            </p:nvSpPr>
            <p:spPr>
              <a:xfrm>
                <a:off x="6797992" y="2199799"/>
                <a:ext cx="106489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按住手把开始蓄力</a:t>
                </a:r>
              </a:p>
            </p:txBody>
          </p:sp>
          <p:sp>
            <p:nvSpPr>
              <p:cNvPr id="32" name="Ellipse 32"/>
              <p:cNvSpPr/>
              <p:nvPr/>
            </p:nvSpPr>
            <p:spPr>
              <a:xfrm>
                <a:off x="6610350" y="2514600"/>
                <a:ext cx="76200" cy="76200"/>
              </a:xfrm>
              <a:prstGeom prst="ellipse">
                <a:avLst/>
              </a:prstGeom>
              <a:solidFill>
                <a:srgbClr val="EF4444"/>
              </a:solidFill>
              <a:ln>
                <a:noFill/>
              </a:ln>
            </p:spPr>
          </p:sp>
          <p:sp>
            <p:nvSpPr>
              <p:cNvPr id="33" name="TextBox 33"/>
              <p:cNvSpPr txBox="1"/>
              <p:nvPr/>
            </p:nvSpPr>
            <p:spPr>
              <a:xfrm>
                <a:off x="6797992" y="2485549"/>
                <a:ext cx="106489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松开瞬间发动攻击</a:t>
                </a:r>
              </a:p>
            </p:txBody>
          </p:sp>
          <p:sp>
            <p:nvSpPr>
              <p:cNvPr id="34" name="Ellipse 34"/>
              <p:cNvSpPr/>
              <p:nvPr/>
            </p:nvSpPr>
            <p:spPr>
              <a:xfrm>
                <a:off x="6610350" y="2800350"/>
                <a:ext cx="76200" cy="76200"/>
              </a:xfrm>
              <a:prstGeom prst="ellipse">
                <a:avLst/>
              </a:prstGeom>
              <a:solidFill>
                <a:srgbClr val="EF4444"/>
              </a:solidFill>
              <a:ln>
                <a:noFill/>
              </a:ln>
            </p:spPr>
          </p:sp>
          <p:sp>
            <p:nvSpPr>
              <p:cNvPr id="35" name="TextBox 35"/>
              <p:cNvSpPr txBox="1"/>
              <p:nvPr/>
            </p:nvSpPr>
            <p:spPr>
              <a:xfrm>
                <a:off x="6797992" y="2771299"/>
                <a:ext cx="106489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蓄力时间决定威力</a:t>
                </a:r>
              </a:p>
            </p:txBody>
          </p:sp>
          <p:sp>
            <p:nvSpPr>
              <p:cNvPr id="36" name="Ellipse 36"/>
              <p:cNvSpPr/>
              <p:nvPr/>
            </p:nvSpPr>
            <p:spPr>
              <a:xfrm>
                <a:off x="6610350" y="3086100"/>
                <a:ext cx="76200" cy="76200"/>
              </a:xfrm>
              <a:prstGeom prst="ellipse">
                <a:avLst/>
              </a:prstGeom>
              <a:solidFill>
                <a:srgbClr val="EF4444"/>
              </a:solidFill>
              <a:ln>
                <a:noFill/>
              </a:ln>
            </p:spPr>
          </p:sp>
          <p:sp>
            <p:nvSpPr>
              <p:cNvPr id="37" name="TextBox 37"/>
              <p:cNvSpPr txBox="1"/>
              <p:nvPr/>
            </p:nvSpPr>
            <p:spPr>
              <a:xfrm>
                <a:off x="6797992" y="3057049"/>
                <a:ext cx="106489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支持双人即时对战</a:t>
                </a:r>
              </a:p>
            </p:txBody>
          </p:sp>
        </p:grpSp>
        <p:sp>
          <p:nvSpPr>
            <p:cNvPr id="39" name="Rectangle 39"/>
            <p:cNvSpPr/>
            <p:nvPr/>
          </p:nvSpPr>
          <p:spPr>
            <a:xfrm>
              <a:off x="6572250" y="3333750"/>
              <a:ext cx="4762500" cy="571500"/>
            </a:xfrm>
            <a:prstGeom prst="roundRect">
              <a:avLst>
                <a:gd name="adj" fmla="val 13333"/>
              </a:avLst>
            </a:prstGeom>
            <a:solidFill>
              <a:srgbClr val="FFFFFF"/>
            </a:solidFill>
            <a:ln w="9525">
              <a:solidFill>
                <a:srgbClr val="EF4444"/>
              </a:solidFill>
            </a:ln>
          </p:spPr>
        </p:sp>
        <p:sp>
          <p:nvSpPr>
            <p:cNvPr id="40" name="TextBox 40"/>
            <p:cNvSpPr txBox="1"/>
            <p:nvPr/>
          </p:nvSpPr>
          <p:spPr>
            <a:xfrm>
              <a:off x="6751320" y="3474720"/>
              <a:ext cx="526923" cy="182880"/>
            </a:xfrm>
            <a:prstGeom prst="rect">
              <a:avLst/>
            </a:prstGeom>
            <a:noFill/>
            <a:ln>
              <a:noFill/>
            </a:ln>
          </p:spPr>
          <p:txBody>
            <a:bodyPr wrap="none" lIns="0" tIns="0" rIns="0" bIns="0" anchor="t" anchorCtr="0">
              <a:spAutoFit/>
            </a:bodyPr>
            <a:lstStyle/>
            <a:p>
              <a:pPr algn="l"/>
              <a:r>
                <a:rPr lang="zh-CN" sz="900" b="1" dirty="0">
                  <a:solidFill>
                    <a:srgbClr val="EF4444"/>
                  </a:solidFill>
                  <a:latin typeface="Arial"/>
                  <a:ea typeface="Microsoft YaHei"/>
                  <a:cs typeface="Arial"/>
                </a:rPr>
                <a:t>实时映射</a:t>
              </a:r>
            </a:p>
          </p:txBody>
        </p:sp>
        <p:sp>
          <p:nvSpPr>
            <p:cNvPr id="41" name="TextBox 41"/>
            <p:cNvSpPr txBox="1"/>
            <p:nvPr/>
          </p:nvSpPr>
          <p:spPr>
            <a:xfrm>
              <a:off x="6752272" y="3673316"/>
              <a:ext cx="211121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手把状态实时映射为游戏指令，延迟 &lt; 5ms</a:t>
              </a:r>
            </a:p>
          </p:txBody>
        </p:sp>
      </p:grpSp>
      <p:grpSp>
        <p:nvGrpSpPr>
          <p:cNvPr id="62" name="Group 62"/>
          <p:cNvGrpSpPr/>
          <p:nvPr/>
        </p:nvGrpSpPr>
        <p:grpSpPr>
          <a:xfrm>
            <a:off x="571500" y="4381500"/>
            <a:ext cx="11049000" cy="1619250"/>
            <a:chOff x="571500" y="4381500"/>
            <a:chExt cx="11049000" cy="1619250"/>
          </a:xfrm>
        </p:grpSpPr>
        <p:sp>
          <p:nvSpPr>
            <p:cNvPr id="43" name="Rectangle 43"/>
            <p:cNvSpPr/>
            <p:nvPr/>
          </p:nvSpPr>
          <p:spPr>
            <a:xfrm>
              <a:off x="571500" y="4381500"/>
              <a:ext cx="11049000" cy="1619250"/>
            </a:xfrm>
            <a:prstGeom prst="roundRect">
              <a:avLst>
                <a:gd name="adj" fmla="val 5882"/>
              </a:avLst>
            </a:prstGeom>
            <a:solidFill>
              <a:srgbClr val="FFFFFF"/>
            </a:solidFill>
            <a:ln w="9525">
              <a:solidFill>
                <a:srgbClr val="E5E7EB"/>
              </a:solidFill>
            </a:ln>
          </p:spPr>
        </p:sp>
        <p:sp>
          <p:nvSpPr>
            <p:cNvPr id="44" name="TextBox 44"/>
            <p:cNvSpPr txBox="1"/>
            <p:nvPr/>
          </p:nvSpPr>
          <p:spPr>
            <a:xfrm>
              <a:off x="842010" y="4585335"/>
              <a:ext cx="1038606"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Segoe UI"/>
                  <a:ea typeface="SimHei"/>
                  <a:cs typeface="Segoe UI"/>
                </a:rPr>
                <a:t>核心技术优势</a:t>
              </a:r>
            </a:p>
          </p:txBody>
        </p:sp>
        <p:grpSp>
          <p:nvGrpSpPr>
            <p:cNvPr id="61" name="Group 61"/>
            <p:cNvGrpSpPr/>
            <p:nvPr/>
          </p:nvGrpSpPr>
          <p:grpSpPr>
            <a:xfrm>
              <a:off x="857250" y="4905375"/>
              <a:ext cx="10668000" cy="857250"/>
              <a:chOff x="857250" y="4905375"/>
              <a:chExt cx="10668000" cy="857250"/>
            </a:xfrm>
          </p:grpSpPr>
          <p:sp>
            <p:nvSpPr>
              <p:cNvPr id="45" name="Rectangle 45"/>
              <p:cNvSpPr/>
              <p:nvPr/>
            </p:nvSpPr>
            <p:spPr>
              <a:xfrm>
                <a:off x="857250" y="4905375"/>
                <a:ext cx="2524125" cy="857250"/>
              </a:xfrm>
              <a:prstGeom prst="roundRect">
                <a:avLst>
                  <a:gd name="adj" fmla="val 8889"/>
                </a:avLst>
              </a:prstGeom>
              <a:solidFill>
                <a:srgbClr val="F5F7FA"/>
              </a:solidFill>
              <a:ln>
                <a:noFill/>
              </a:ln>
            </p:spPr>
          </p:sp>
          <p:sp>
            <p:nvSpPr>
              <p:cNvPr id="46" name="TextBox 46"/>
              <p:cNvSpPr txBox="1"/>
              <p:nvPr/>
            </p:nvSpPr>
            <p:spPr>
              <a:xfrm>
                <a:off x="986790" y="5030152"/>
                <a:ext cx="614744"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实时映射</a:t>
                </a:r>
              </a:p>
            </p:txBody>
          </p:sp>
          <p:sp>
            <p:nvSpPr>
              <p:cNvPr id="47" name="TextBox 47"/>
              <p:cNvSpPr txBox="1"/>
              <p:nvPr/>
            </p:nvSpPr>
            <p:spPr>
              <a:xfrm>
                <a:off x="989648" y="5244941"/>
                <a:ext cx="123110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霍尔信号直接转换为游戏</a:t>
                </a:r>
              </a:p>
            </p:txBody>
          </p:sp>
          <p:sp>
            <p:nvSpPr>
              <p:cNvPr id="48" name="TextBox 48"/>
              <p:cNvSpPr txBox="1"/>
              <p:nvPr/>
            </p:nvSpPr>
            <p:spPr>
              <a:xfrm>
                <a:off x="989648" y="5406866"/>
                <a:ext cx="124760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手柄输入，延迟低于 5ms</a:t>
                </a:r>
              </a:p>
            </p:txBody>
          </p:sp>
          <p:sp>
            <p:nvSpPr>
              <p:cNvPr id="49" name="Rectangle 49"/>
              <p:cNvSpPr/>
              <p:nvPr/>
            </p:nvSpPr>
            <p:spPr>
              <a:xfrm>
                <a:off x="3571875" y="4905375"/>
                <a:ext cx="2524125" cy="857250"/>
              </a:xfrm>
              <a:prstGeom prst="roundRect">
                <a:avLst>
                  <a:gd name="adj" fmla="val 8889"/>
                </a:avLst>
              </a:prstGeom>
              <a:solidFill>
                <a:srgbClr val="F5F7FA"/>
              </a:solidFill>
              <a:ln>
                <a:noFill/>
              </a:ln>
            </p:spPr>
          </p:sp>
          <p:sp>
            <p:nvSpPr>
              <p:cNvPr id="50" name="TextBox 50"/>
              <p:cNvSpPr txBox="1"/>
              <p:nvPr/>
            </p:nvSpPr>
            <p:spPr>
              <a:xfrm>
                <a:off x="3701415" y="5030152"/>
                <a:ext cx="614744"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即插即用</a:t>
                </a:r>
              </a:p>
            </p:txBody>
          </p:sp>
          <p:sp>
            <p:nvSpPr>
              <p:cNvPr id="51" name="TextBox 51"/>
              <p:cNvSpPr txBox="1"/>
              <p:nvPr/>
            </p:nvSpPr>
            <p:spPr>
              <a:xfrm>
                <a:off x="3704272" y="5244941"/>
                <a:ext cx="86256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USB HID 标准协议</a:t>
                </a:r>
              </a:p>
            </p:txBody>
          </p:sp>
          <p:sp>
            <p:nvSpPr>
              <p:cNvPr id="52" name="TextBox 52"/>
              <p:cNvSpPr txBox="1"/>
              <p:nvPr/>
            </p:nvSpPr>
            <p:spPr>
              <a:xfrm>
                <a:off x="3704272" y="5406866"/>
                <a:ext cx="101107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无需安装驱动或软件</a:t>
                </a:r>
              </a:p>
            </p:txBody>
          </p:sp>
          <p:sp>
            <p:nvSpPr>
              <p:cNvPr id="53" name="Rectangle 53"/>
              <p:cNvSpPr/>
              <p:nvPr/>
            </p:nvSpPr>
            <p:spPr>
              <a:xfrm>
                <a:off x="6286500" y="4905375"/>
                <a:ext cx="2524125" cy="857250"/>
              </a:xfrm>
              <a:prstGeom prst="roundRect">
                <a:avLst>
                  <a:gd name="adj" fmla="val 8889"/>
                </a:avLst>
              </a:prstGeom>
              <a:solidFill>
                <a:srgbClr val="F5F7FA"/>
              </a:solidFill>
              <a:ln>
                <a:noFill/>
              </a:ln>
            </p:spPr>
          </p:sp>
          <p:sp>
            <p:nvSpPr>
              <p:cNvPr id="54" name="TextBox 54"/>
              <p:cNvSpPr txBox="1"/>
              <p:nvPr/>
            </p:nvSpPr>
            <p:spPr>
              <a:xfrm>
                <a:off x="6416040" y="5030152"/>
                <a:ext cx="908780"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支持双人对战</a:t>
                </a:r>
              </a:p>
            </p:txBody>
          </p:sp>
          <p:sp>
            <p:nvSpPr>
              <p:cNvPr id="55" name="TextBox 55"/>
              <p:cNvSpPr txBox="1"/>
              <p:nvPr/>
            </p:nvSpPr>
            <p:spPr>
              <a:xfrm>
                <a:off x="6418898" y="5244941"/>
                <a:ext cx="101107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两组设备可同时连接</a:t>
                </a:r>
              </a:p>
            </p:txBody>
          </p:sp>
          <p:sp>
            <p:nvSpPr>
              <p:cNvPr id="56" name="TextBox 56"/>
              <p:cNvSpPr txBox="1"/>
              <p:nvPr/>
            </p:nvSpPr>
            <p:spPr>
              <a:xfrm>
                <a:off x="6418898" y="5406866"/>
                <a:ext cx="90106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适配多种对战游戏</a:t>
                </a:r>
              </a:p>
            </p:txBody>
          </p:sp>
          <p:sp>
            <p:nvSpPr>
              <p:cNvPr id="57" name="Rectangle 57"/>
              <p:cNvSpPr/>
              <p:nvPr/>
            </p:nvSpPr>
            <p:spPr>
              <a:xfrm>
                <a:off x="9001125" y="4905375"/>
                <a:ext cx="2524125" cy="857250"/>
              </a:xfrm>
              <a:prstGeom prst="roundRect">
                <a:avLst>
                  <a:gd name="adj" fmla="val 8889"/>
                </a:avLst>
              </a:prstGeom>
              <a:solidFill>
                <a:srgbClr val="F5F7FA"/>
              </a:solidFill>
              <a:ln>
                <a:noFill/>
              </a:ln>
            </p:spPr>
          </p:sp>
          <p:sp>
            <p:nvSpPr>
              <p:cNvPr id="58" name="TextBox 58"/>
              <p:cNvSpPr txBox="1"/>
              <p:nvPr/>
            </p:nvSpPr>
            <p:spPr>
              <a:xfrm>
                <a:off x="9130665" y="5030152"/>
                <a:ext cx="614744"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颜色定制</a:t>
                </a:r>
              </a:p>
            </p:txBody>
          </p:sp>
          <p:sp>
            <p:nvSpPr>
              <p:cNvPr id="59" name="TextBox 59"/>
              <p:cNvSpPr txBox="1"/>
              <p:nvPr/>
            </p:nvSpPr>
            <p:spPr>
              <a:xfrm>
                <a:off x="9133522" y="5244941"/>
                <a:ext cx="101107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支持自定义灯光颜色</a:t>
                </a:r>
              </a:p>
            </p:txBody>
          </p:sp>
          <p:sp>
            <p:nvSpPr>
              <p:cNvPr id="60" name="TextBox 60"/>
              <p:cNvSpPr txBox="1"/>
              <p:nvPr/>
            </p:nvSpPr>
            <p:spPr>
              <a:xfrm>
                <a:off x="9133522" y="5406866"/>
                <a:ext cx="961573"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品牌 logo 印刷服务</a:t>
                </a:r>
              </a:p>
            </p:txBody>
          </p:sp>
        </p:grpSp>
      </p:grpSp>
      <p:sp>
        <p:nvSpPr>
          <p:cNvPr id="63" name="Rectangle 63"/>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1381487"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GAME FLOW</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06 / 09</a:t>
            </a:r>
          </a:p>
        </p:txBody>
      </p:sp>
      <p:sp>
        <p:nvSpPr>
          <p:cNvPr id="6" name="Rectangle 6"/>
          <p:cNvSpPr/>
          <p:nvPr/>
        </p:nvSpPr>
        <p:spPr>
          <a:xfrm>
            <a:off x="571500" y="523875"/>
            <a:ext cx="762000" cy="28575"/>
          </a:xfrm>
          <a:prstGeom prst="rect">
            <a:avLst/>
          </a:prstGeom>
          <a:solidFill>
            <a:srgbClr val="2563EB"/>
          </a:solidFill>
          <a:ln>
            <a:noFill/>
          </a:ln>
        </p:spPr>
      </p:sp>
      <p:grpSp>
        <p:nvGrpSpPr>
          <p:cNvPr id="48" name="Group 48"/>
          <p:cNvGrpSpPr/>
          <p:nvPr/>
        </p:nvGrpSpPr>
        <p:grpSpPr>
          <a:xfrm>
            <a:off x="571500" y="1143000"/>
            <a:ext cx="11620500" cy="1143000"/>
            <a:chOff x="571500" y="1143000"/>
            <a:chExt cx="11620500" cy="1143000"/>
          </a:xfrm>
        </p:grpSpPr>
        <p:grpSp>
          <p:nvGrpSpPr>
            <p:cNvPr id="12" name="Group 12"/>
            <p:cNvGrpSpPr/>
            <p:nvPr/>
          </p:nvGrpSpPr>
          <p:grpSpPr>
            <a:xfrm>
              <a:off x="571500" y="1143000"/>
              <a:ext cx="1619250" cy="1143000"/>
              <a:chOff x="571500" y="1143000"/>
              <a:chExt cx="1619250" cy="1143000"/>
            </a:xfrm>
          </p:grpSpPr>
          <p:sp>
            <p:nvSpPr>
              <p:cNvPr id="7" name="Rectangle 7"/>
              <p:cNvSpPr/>
              <p:nvPr/>
            </p:nvSpPr>
            <p:spPr>
              <a:xfrm>
                <a:off x="571500" y="1143000"/>
                <a:ext cx="1619250" cy="1143000"/>
              </a:xfrm>
              <a:prstGeom prst="roundRect">
                <a:avLst>
                  <a:gd name="adj" fmla="val 8333"/>
                </a:avLst>
              </a:prstGeom>
              <a:solidFill>
                <a:srgbClr val="FFFFFF"/>
              </a:solidFill>
              <a:ln w="19050">
                <a:solidFill>
                  <a:srgbClr val="1E3A5F"/>
                </a:solidFill>
              </a:ln>
            </p:spPr>
          </p:sp>
          <p:sp>
            <p:nvSpPr>
              <p:cNvPr id="8" name="Ellipse 8"/>
              <p:cNvSpPr/>
              <p:nvPr/>
            </p:nvSpPr>
            <p:spPr>
              <a:xfrm>
                <a:off x="1190625" y="1285875"/>
                <a:ext cx="381000" cy="381000"/>
              </a:xfrm>
              <a:prstGeom prst="ellipse">
                <a:avLst/>
              </a:prstGeom>
              <a:solidFill>
                <a:srgbClr val="1E3A5F"/>
              </a:solidFill>
              <a:ln>
                <a:noFill/>
              </a:ln>
            </p:spPr>
          </p:sp>
          <p:sp>
            <p:nvSpPr>
              <p:cNvPr id="9" name="TextBox 9"/>
              <p:cNvSpPr txBox="1"/>
              <p:nvPr/>
            </p:nvSpPr>
            <p:spPr>
              <a:xfrm>
                <a:off x="1335626" y="1378268"/>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TextBox 10"/>
              <p:cNvSpPr txBox="1"/>
              <p:nvPr/>
            </p:nvSpPr>
            <p:spPr>
              <a:xfrm>
                <a:off x="1073753" y="1744028"/>
                <a:ext cx="614744"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选择角色</a:t>
                </a:r>
              </a:p>
            </p:txBody>
          </p:sp>
          <p:sp>
            <p:nvSpPr>
              <p:cNvPr id="11" name="TextBox 11"/>
              <p:cNvSpPr txBox="1"/>
              <p:nvPr/>
            </p:nvSpPr>
            <p:spPr>
              <a:xfrm>
                <a:off x="1071562" y="1995488"/>
                <a:ext cx="619125"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进入游戏大厅</a:t>
                </a:r>
              </a:p>
            </p:txBody>
          </p:sp>
        </p:grpSp>
        <p:sp>
          <p:nvSpPr>
            <p:cNvPr id="13" name="Polygon 13"/>
            <p:cNvSpPr/>
            <p:nvPr/>
          </p:nvSpPr>
          <p:spPr>
            <a:xfrm>
              <a:off x="2381250" y="1619250"/>
              <a:ext cx="190500" cy="190500"/>
            </a:xfrm>
            <a:custGeom>
              <a:avLst/>
              <a:gdLst/>
              <a:ahLst/>
              <a:cxnLst/>
              <a:rect l="l" t="t" r="r" b="b"/>
              <a:pathLst>
                <a:path w="190500" h="190500">
                  <a:moveTo>
                    <a:pt x="0" y="95250"/>
                  </a:moveTo>
                  <a:lnTo>
                    <a:pt x="190500" y="0"/>
                  </a:lnTo>
                  <a:lnTo>
                    <a:pt x="190500" y="190500"/>
                  </a:lnTo>
                  <a:close/>
                </a:path>
              </a:pathLst>
            </a:custGeom>
            <a:solidFill>
              <a:srgbClr val="1E3A5F"/>
            </a:solidFill>
            <a:ln>
              <a:noFill/>
            </a:ln>
          </p:spPr>
        </p:sp>
        <p:grpSp>
          <p:nvGrpSpPr>
            <p:cNvPr id="19" name="Group 19"/>
            <p:cNvGrpSpPr/>
            <p:nvPr/>
          </p:nvGrpSpPr>
          <p:grpSpPr>
            <a:xfrm>
              <a:off x="2762250" y="1143000"/>
              <a:ext cx="1619250" cy="1143000"/>
              <a:chOff x="2762250" y="1143000"/>
              <a:chExt cx="1619250" cy="1143000"/>
            </a:xfrm>
          </p:grpSpPr>
          <p:sp>
            <p:nvSpPr>
              <p:cNvPr id="14" name="Rectangle 14"/>
              <p:cNvSpPr/>
              <p:nvPr/>
            </p:nvSpPr>
            <p:spPr>
              <a:xfrm>
                <a:off x="2762250" y="1143000"/>
                <a:ext cx="1619250" cy="1143000"/>
              </a:xfrm>
              <a:prstGeom prst="roundRect">
                <a:avLst>
                  <a:gd name="adj" fmla="val 8333"/>
                </a:avLst>
              </a:prstGeom>
              <a:solidFill>
                <a:srgbClr val="FFFFFF"/>
              </a:solidFill>
              <a:ln w="19050">
                <a:solidFill>
                  <a:srgbClr val="2563EB"/>
                </a:solidFill>
              </a:ln>
            </p:spPr>
          </p:sp>
          <p:sp>
            <p:nvSpPr>
              <p:cNvPr id="15" name="Ellipse 15"/>
              <p:cNvSpPr/>
              <p:nvPr/>
            </p:nvSpPr>
            <p:spPr>
              <a:xfrm>
                <a:off x="3381375" y="1285875"/>
                <a:ext cx="381000" cy="381000"/>
              </a:xfrm>
              <a:prstGeom prst="ellipse">
                <a:avLst/>
              </a:prstGeom>
              <a:solidFill>
                <a:srgbClr val="2563EB"/>
              </a:solidFill>
              <a:ln>
                <a:noFill/>
              </a:ln>
            </p:spPr>
          </p:sp>
          <p:sp>
            <p:nvSpPr>
              <p:cNvPr id="16" name="TextBox 16"/>
              <p:cNvSpPr txBox="1"/>
              <p:nvPr/>
            </p:nvSpPr>
            <p:spPr>
              <a:xfrm>
                <a:off x="3502749" y="13782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7" name="TextBox 17"/>
              <p:cNvSpPr txBox="1"/>
              <p:nvPr/>
            </p:nvSpPr>
            <p:spPr>
              <a:xfrm>
                <a:off x="3264503" y="1744028"/>
                <a:ext cx="614744"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准备阶段</a:t>
                </a:r>
              </a:p>
            </p:txBody>
          </p:sp>
          <p:sp>
            <p:nvSpPr>
              <p:cNvPr id="18" name="TextBox 18"/>
              <p:cNvSpPr txBox="1"/>
              <p:nvPr/>
            </p:nvSpPr>
            <p:spPr>
              <a:xfrm>
                <a:off x="3262312" y="1995488"/>
                <a:ext cx="619125"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等待其他玩家</a:t>
                </a:r>
              </a:p>
            </p:txBody>
          </p:sp>
        </p:grpSp>
        <p:sp>
          <p:nvSpPr>
            <p:cNvPr id="20" name="Polygon 20"/>
            <p:cNvSpPr/>
            <p:nvPr/>
          </p:nvSpPr>
          <p:spPr>
            <a:xfrm>
              <a:off x="4572000" y="1619250"/>
              <a:ext cx="190500" cy="190500"/>
            </a:xfrm>
            <a:custGeom>
              <a:avLst/>
              <a:gdLst/>
              <a:ahLst/>
              <a:cxnLst/>
              <a:rect l="l" t="t" r="r" b="b"/>
              <a:pathLst>
                <a:path w="190500" h="190500">
                  <a:moveTo>
                    <a:pt x="0" y="95250"/>
                  </a:moveTo>
                  <a:lnTo>
                    <a:pt x="190500" y="0"/>
                  </a:lnTo>
                  <a:lnTo>
                    <a:pt x="190500" y="190500"/>
                  </a:lnTo>
                  <a:close/>
                </a:path>
              </a:pathLst>
            </a:custGeom>
            <a:solidFill>
              <a:srgbClr val="2563EB"/>
            </a:solidFill>
            <a:ln>
              <a:noFill/>
            </a:ln>
          </p:spPr>
        </p:sp>
        <p:grpSp>
          <p:nvGrpSpPr>
            <p:cNvPr id="26" name="Group 26"/>
            <p:cNvGrpSpPr/>
            <p:nvPr/>
          </p:nvGrpSpPr>
          <p:grpSpPr>
            <a:xfrm>
              <a:off x="4953000" y="1143000"/>
              <a:ext cx="1619250" cy="1143000"/>
              <a:chOff x="4953000" y="1143000"/>
              <a:chExt cx="1619250" cy="1143000"/>
            </a:xfrm>
          </p:grpSpPr>
          <p:sp>
            <p:nvSpPr>
              <p:cNvPr id="21" name="Rectangle 21"/>
              <p:cNvSpPr/>
              <p:nvPr/>
            </p:nvSpPr>
            <p:spPr>
              <a:xfrm>
                <a:off x="4953000" y="1143000"/>
                <a:ext cx="1619250" cy="1143000"/>
              </a:xfrm>
              <a:prstGeom prst="roundRect">
                <a:avLst>
                  <a:gd name="adj" fmla="val 8333"/>
                </a:avLst>
              </a:prstGeom>
              <a:solidFill>
                <a:srgbClr val="FFFFFF"/>
              </a:solidFill>
              <a:ln w="19050">
                <a:solidFill>
                  <a:srgbClr val="3B82F6"/>
                </a:solidFill>
              </a:ln>
            </p:spPr>
          </p:sp>
          <p:sp>
            <p:nvSpPr>
              <p:cNvPr id="22" name="Ellipse 22"/>
              <p:cNvSpPr/>
              <p:nvPr/>
            </p:nvSpPr>
            <p:spPr>
              <a:xfrm>
                <a:off x="5572125" y="1285875"/>
                <a:ext cx="381000" cy="381000"/>
              </a:xfrm>
              <a:prstGeom prst="ellipse">
                <a:avLst/>
              </a:prstGeom>
              <a:solidFill>
                <a:srgbClr val="3B82F6"/>
              </a:solidFill>
              <a:ln>
                <a:noFill/>
              </a:ln>
            </p:spPr>
          </p:sp>
          <p:sp>
            <p:nvSpPr>
              <p:cNvPr id="23" name="TextBox 23"/>
              <p:cNvSpPr txBox="1"/>
              <p:nvPr/>
            </p:nvSpPr>
            <p:spPr>
              <a:xfrm>
                <a:off x="5693499" y="13782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4" name="TextBox 24"/>
              <p:cNvSpPr txBox="1"/>
              <p:nvPr/>
            </p:nvSpPr>
            <p:spPr>
              <a:xfrm>
                <a:off x="5528762" y="1744028"/>
                <a:ext cx="467725"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倒计时</a:t>
                </a:r>
              </a:p>
            </p:txBody>
          </p:sp>
          <p:sp>
            <p:nvSpPr>
              <p:cNvPr id="25" name="TextBox 25"/>
              <p:cNvSpPr txBox="1"/>
              <p:nvPr/>
            </p:nvSpPr>
            <p:spPr>
              <a:xfrm>
                <a:off x="5453062" y="1995488"/>
                <a:ext cx="619125"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游戏即将开始</a:t>
                </a:r>
              </a:p>
            </p:txBody>
          </p:sp>
        </p:grpSp>
        <p:sp>
          <p:nvSpPr>
            <p:cNvPr id="27" name="Polygon 27"/>
            <p:cNvSpPr/>
            <p:nvPr/>
          </p:nvSpPr>
          <p:spPr>
            <a:xfrm>
              <a:off x="6762750" y="1619250"/>
              <a:ext cx="190500" cy="190500"/>
            </a:xfrm>
            <a:custGeom>
              <a:avLst/>
              <a:gdLst/>
              <a:ahLst/>
              <a:cxnLst/>
              <a:rect l="l" t="t" r="r" b="b"/>
              <a:pathLst>
                <a:path w="190500" h="190500">
                  <a:moveTo>
                    <a:pt x="0" y="95250"/>
                  </a:moveTo>
                  <a:lnTo>
                    <a:pt x="190500" y="0"/>
                  </a:lnTo>
                  <a:lnTo>
                    <a:pt x="190500" y="190500"/>
                  </a:lnTo>
                  <a:close/>
                </a:path>
              </a:pathLst>
            </a:custGeom>
            <a:solidFill>
              <a:srgbClr val="3B82F6"/>
            </a:solidFill>
            <a:ln>
              <a:noFill/>
            </a:ln>
          </p:spPr>
        </p:sp>
        <p:grpSp>
          <p:nvGrpSpPr>
            <p:cNvPr id="33" name="Group 33"/>
            <p:cNvGrpSpPr/>
            <p:nvPr/>
          </p:nvGrpSpPr>
          <p:grpSpPr>
            <a:xfrm>
              <a:off x="7143750" y="1143000"/>
              <a:ext cx="1619250" cy="1143000"/>
              <a:chOff x="7143750" y="1143000"/>
              <a:chExt cx="1619250" cy="1143000"/>
            </a:xfrm>
          </p:grpSpPr>
          <p:sp>
            <p:nvSpPr>
              <p:cNvPr id="28" name="Rectangle 28"/>
              <p:cNvSpPr/>
              <p:nvPr/>
            </p:nvSpPr>
            <p:spPr>
              <a:xfrm>
                <a:off x="7143750" y="1143000"/>
                <a:ext cx="1619250" cy="1143000"/>
              </a:xfrm>
              <a:prstGeom prst="roundRect">
                <a:avLst>
                  <a:gd name="adj" fmla="val 8333"/>
                </a:avLst>
              </a:prstGeom>
              <a:solidFill>
                <a:srgbClr val="FFFFFF"/>
              </a:solidFill>
              <a:ln w="19050">
                <a:solidFill>
                  <a:srgbClr val="10B981"/>
                </a:solidFill>
              </a:ln>
            </p:spPr>
          </p:sp>
          <p:sp>
            <p:nvSpPr>
              <p:cNvPr id="29" name="Ellipse 29"/>
              <p:cNvSpPr/>
              <p:nvPr/>
            </p:nvSpPr>
            <p:spPr>
              <a:xfrm>
                <a:off x="7762875" y="1285875"/>
                <a:ext cx="381000" cy="381000"/>
              </a:xfrm>
              <a:prstGeom prst="ellipse">
                <a:avLst/>
              </a:prstGeom>
              <a:solidFill>
                <a:srgbClr val="10B981"/>
              </a:solidFill>
              <a:ln>
                <a:noFill/>
              </a:ln>
            </p:spPr>
          </p:sp>
          <p:sp>
            <p:nvSpPr>
              <p:cNvPr id="30" name="TextBox 30"/>
              <p:cNvSpPr txBox="1"/>
              <p:nvPr/>
            </p:nvSpPr>
            <p:spPr>
              <a:xfrm>
                <a:off x="7884249" y="13782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31" name="TextBox 31"/>
              <p:cNvSpPr txBox="1"/>
              <p:nvPr/>
            </p:nvSpPr>
            <p:spPr>
              <a:xfrm>
                <a:off x="7646003" y="1744028"/>
                <a:ext cx="614744"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进入游戏</a:t>
                </a:r>
              </a:p>
            </p:txBody>
          </p:sp>
          <p:sp>
            <p:nvSpPr>
              <p:cNvPr id="32" name="TextBox 32"/>
              <p:cNvSpPr txBox="1"/>
              <p:nvPr/>
            </p:nvSpPr>
            <p:spPr>
              <a:xfrm>
                <a:off x="7743825" y="1995488"/>
                <a:ext cx="419100"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正式对决</a:t>
                </a:r>
              </a:p>
            </p:txBody>
          </p:sp>
        </p:grpSp>
        <p:sp>
          <p:nvSpPr>
            <p:cNvPr id="34" name="Polygon 34"/>
            <p:cNvSpPr/>
            <p:nvPr/>
          </p:nvSpPr>
          <p:spPr>
            <a:xfrm>
              <a:off x="8953500" y="1619250"/>
              <a:ext cx="190500" cy="190500"/>
            </a:xfrm>
            <a:custGeom>
              <a:avLst/>
              <a:gdLst/>
              <a:ahLst/>
              <a:cxnLst/>
              <a:rect l="l" t="t" r="r" b="b"/>
              <a:pathLst>
                <a:path w="190500" h="190500">
                  <a:moveTo>
                    <a:pt x="0" y="95250"/>
                  </a:moveTo>
                  <a:lnTo>
                    <a:pt x="190500" y="0"/>
                  </a:lnTo>
                  <a:lnTo>
                    <a:pt x="190500" y="190500"/>
                  </a:lnTo>
                  <a:close/>
                </a:path>
              </a:pathLst>
            </a:custGeom>
            <a:solidFill>
              <a:srgbClr val="10B981"/>
            </a:solidFill>
            <a:ln>
              <a:noFill/>
            </a:ln>
          </p:spPr>
        </p:sp>
        <p:grpSp>
          <p:nvGrpSpPr>
            <p:cNvPr id="40" name="Group 40"/>
            <p:cNvGrpSpPr/>
            <p:nvPr/>
          </p:nvGrpSpPr>
          <p:grpSpPr>
            <a:xfrm>
              <a:off x="9334500" y="1143000"/>
              <a:ext cx="1619250" cy="1143000"/>
              <a:chOff x="9334500" y="1143000"/>
              <a:chExt cx="1619250" cy="1143000"/>
            </a:xfrm>
          </p:grpSpPr>
          <p:sp>
            <p:nvSpPr>
              <p:cNvPr id="35" name="Rectangle 35"/>
              <p:cNvSpPr/>
              <p:nvPr/>
            </p:nvSpPr>
            <p:spPr>
              <a:xfrm>
                <a:off x="9334500" y="1143000"/>
                <a:ext cx="1619250" cy="1143000"/>
              </a:xfrm>
              <a:prstGeom prst="roundRect">
                <a:avLst>
                  <a:gd name="adj" fmla="val 8333"/>
                </a:avLst>
              </a:prstGeom>
              <a:solidFill>
                <a:srgbClr val="FFFFFF"/>
              </a:solidFill>
              <a:ln w="19050">
                <a:solidFill>
                  <a:srgbClr val="10B981"/>
                </a:solidFill>
              </a:ln>
            </p:spPr>
          </p:sp>
          <p:sp>
            <p:nvSpPr>
              <p:cNvPr id="36" name="Ellipse 36"/>
              <p:cNvSpPr/>
              <p:nvPr/>
            </p:nvSpPr>
            <p:spPr>
              <a:xfrm>
                <a:off x="9953625" y="1285875"/>
                <a:ext cx="381000" cy="381000"/>
              </a:xfrm>
              <a:prstGeom prst="ellipse">
                <a:avLst/>
              </a:prstGeom>
              <a:solidFill>
                <a:srgbClr val="10B981"/>
              </a:solidFill>
              <a:ln>
                <a:noFill/>
              </a:ln>
            </p:spPr>
          </p:sp>
          <p:sp>
            <p:nvSpPr>
              <p:cNvPr id="37" name="TextBox 37"/>
              <p:cNvSpPr txBox="1"/>
              <p:nvPr/>
            </p:nvSpPr>
            <p:spPr>
              <a:xfrm>
                <a:off x="10074999" y="13782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38" name="TextBox 38"/>
              <p:cNvSpPr txBox="1"/>
              <p:nvPr/>
            </p:nvSpPr>
            <p:spPr>
              <a:xfrm>
                <a:off x="9836753" y="1744028"/>
                <a:ext cx="614744"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刹车战斗</a:t>
                </a:r>
              </a:p>
            </p:txBody>
          </p:sp>
          <p:sp>
            <p:nvSpPr>
              <p:cNvPr id="39" name="TextBox 39"/>
              <p:cNvSpPr txBox="1"/>
              <p:nvPr/>
            </p:nvSpPr>
            <p:spPr>
              <a:xfrm>
                <a:off x="9907072" y="1995488"/>
                <a:ext cx="474107"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发招/加速</a:t>
                </a:r>
              </a:p>
            </p:txBody>
          </p:sp>
        </p:grpSp>
        <p:sp>
          <p:nvSpPr>
            <p:cNvPr id="41" name="Polygon 41"/>
            <p:cNvSpPr/>
            <p:nvPr/>
          </p:nvSpPr>
          <p:spPr>
            <a:xfrm>
              <a:off x="11144250" y="1619250"/>
              <a:ext cx="190500" cy="190500"/>
            </a:xfrm>
            <a:custGeom>
              <a:avLst/>
              <a:gdLst/>
              <a:ahLst/>
              <a:cxnLst/>
              <a:rect l="l" t="t" r="r" b="b"/>
              <a:pathLst>
                <a:path w="190500" h="190500">
                  <a:moveTo>
                    <a:pt x="0" y="95250"/>
                  </a:moveTo>
                  <a:lnTo>
                    <a:pt x="190500" y="0"/>
                  </a:lnTo>
                  <a:lnTo>
                    <a:pt x="190500" y="190500"/>
                  </a:lnTo>
                  <a:close/>
                </a:path>
              </a:pathLst>
            </a:custGeom>
            <a:solidFill>
              <a:srgbClr val="10B981"/>
            </a:solidFill>
            <a:ln>
              <a:noFill/>
            </a:ln>
          </p:spPr>
        </p:sp>
        <p:grpSp>
          <p:nvGrpSpPr>
            <p:cNvPr id="47" name="Group 47"/>
            <p:cNvGrpSpPr/>
            <p:nvPr/>
          </p:nvGrpSpPr>
          <p:grpSpPr>
            <a:xfrm>
              <a:off x="11525250" y="1143000"/>
              <a:ext cx="666750" cy="1143000"/>
              <a:chOff x="11525250" y="1143000"/>
              <a:chExt cx="666750" cy="1143000"/>
            </a:xfrm>
          </p:grpSpPr>
          <p:sp>
            <p:nvSpPr>
              <p:cNvPr id="42" name="Rectangle 42"/>
              <p:cNvSpPr/>
              <p:nvPr/>
            </p:nvSpPr>
            <p:spPr>
              <a:xfrm>
                <a:off x="11525250" y="1143000"/>
                <a:ext cx="666750" cy="1143000"/>
              </a:xfrm>
              <a:prstGeom prst="roundRect">
                <a:avLst>
                  <a:gd name="adj" fmla="val 14286"/>
                </a:avLst>
              </a:prstGeom>
              <a:solidFill>
                <a:srgbClr val="F5F7FA"/>
              </a:solidFill>
              <a:ln w="9525">
                <a:solidFill>
                  <a:srgbClr val="E5E7EB"/>
                </a:solidFill>
              </a:ln>
            </p:spPr>
          </p:sp>
          <p:sp>
            <p:nvSpPr>
              <p:cNvPr id="43" name="Ellipse 43"/>
              <p:cNvSpPr/>
              <p:nvPr/>
            </p:nvSpPr>
            <p:spPr>
              <a:xfrm>
                <a:off x="11668125" y="1285875"/>
                <a:ext cx="381000" cy="381000"/>
              </a:xfrm>
              <a:prstGeom prst="ellipse">
                <a:avLst/>
              </a:prstGeom>
              <a:solidFill>
                <a:srgbClr val="9CA3AF"/>
              </a:solidFill>
              <a:ln>
                <a:noFill/>
              </a:ln>
            </p:spPr>
          </p:sp>
          <p:sp>
            <p:nvSpPr>
              <p:cNvPr id="44" name="TextBox 44"/>
              <p:cNvSpPr txBox="1"/>
              <p:nvPr/>
            </p:nvSpPr>
            <p:spPr>
              <a:xfrm>
                <a:off x="11789499" y="13782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6</a:t>
                </a:r>
              </a:p>
            </p:txBody>
          </p:sp>
          <p:sp>
            <p:nvSpPr>
              <p:cNvPr id="45" name="TextBox 45"/>
              <p:cNvSpPr txBox="1"/>
              <p:nvPr/>
            </p:nvSpPr>
            <p:spPr>
              <a:xfrm>
                <a:off x="11698272" y="1744028"/>
                <a:ext cx="320707" cy="213360"/>
              </a:xfrm>
              <a:prstGeom prst="rect">
                <a:avLst/>
              </a:prstGeom>
              <a:noFill/>
              <a:ln>
                <a:noFill/>
              </a:ln>
            </p:spPr>
            <p:txBody>
              <a:bodyPr wrap="none" lIns="0" tIns="0" rIns="0" bIns="0" anchor="t" anchorCtr="0">
                <a:spAutoFit/>
              </a:bodyPr>
              <a:lstStyle/>
              <a:p>
                <a:pPr algn="ctr"/>
                <a:r>
                  <a:rPr lang="zh-CN" sz="1050" b="1" dirty="0">
                    <a:solidFill>
                      <a:srgbClr val="1F2937"/>
                    </a:solidFill>
                    <a:latin typeface="Segoe UI"/>
                    <a:ea typeface="SimHei"/>
                    <a:cs typeface="Segoe UI"/>
                  </a:rPr>
                  <a:t>结束</a:t>
                </a:r>
              </a:p>
            </p:txBody>
          </p:sp>
          <p:sp>
            <p:nvSpPr>
              <p:cNvPr id="46" name="TextBox 46"/>
              <p:cNvSpPr txBox="1"/>
              <p:nvPr/>
            </p:nvSpPr>
            <p:spPr>
              <a:xfrm>
                <a:off x="11649075" y="1995488"/>
                <a:ext cx="419100" cy="152400"/>
              </a:xfrm>
              <a:prstGeom prst="rect">
                <a:avLst/>
              </a:prstGeom>
              <a:noFill/>
              <a:ln>
                <a:noFill/>
              </a:ln>
            </p:spPr>
            <p:txBody>
              <a:bodyPr wrap="none" lIns="0" tIns="0" rIns="0" bIns="0" anchor="t" anchorCtr="0">
                <a:spAutoFit/>
              </a:bodyPr>
              <a:lstStyle/>
              <a:p>
                <a:pPr algn="ctr"/>
                <a:r>
                  <a:rPr lang="zh-CN" sz="750" dirty="0">
                    <a:solidFill>
                      <a:srgbClr val="6B7280"/>
                    </a:solidFill>
                    <a:latin typeface="Arial"/>
                    <a:ea typeface="Microsoft YaHei"/>
                    <a:cs typeface="Arial"/>
                  </a:rPr>
                  <a:t>显示结果</a:t>
                </a:r>
              </a:p>
            </p:txBody>
          </p:sp>
        </p:grpSp>
      </p:grpSp>
      <p:grpSp>
        <p:nvGrpSpPr>
          <p:cNvPr id="56" name="Group 56"/>
          <p:cNvGrpSpPr/>
          <p:nvPr/>
        </p:nvGrpSpPr>
        <p:grpSpPr>
          <a:xfrm>
            <a:off x="571500" y="2571750"/>
            <a:ext cx="3333750" cy="1238250"/>
            <a:chOff x="571500" y="2571750"/>
            <a:chExt cx="3333750" cy="1238250"/>
          </a:xfrm>
        </p:grpSpPr>
        <p:sp>
          <p:nvSpPr>
            <p:cNvPr id="49" name="Rectangle 49"/>
            <p:cNvSpPr/>
            <p:nvPr/>
          </p:nvSpPr>
          <p:spPr>
            <a:xfrm>
              <a:off x="571500" y="2571750"/>
              <a:ext cx="3333750" cy="1238250"/>
            </a:xfrm>
            <a:prstGeom prst="roundRect">
              <a:avLst>
                <a:gd name="adj" fmla="val 6154"/>
              </a:avLst>
            </a:prstGeom>
            <a:solidFill>
              <a:srgbClr val="F5F7FA"/>
            </a:solidFill>
            <a:ln w="9525">
              <a:solidFill>
                <a:srgbClr val="E5E7EB"/>
              </a:solidFill>
            </a:ln>
          </p:spPr>
        </p:sp>
        <p:sp>
          <p:nvSpPr>
            <p:cNvPr id="50" name="TextBox 50"/>
            <p:cNvSpPr txBox="1"/>
            <p:nvPr/>
          </p:nvSpPr>
          <p:spPr>
            <a:xfrm>
              <a:off x="796290" y="2744152"/>
              <a:ext cx="761762"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二维码配对</a:t>
              </a:r>
            </a:p>
          </p:txBody>
        </p:sp>
        <p:sp>
          <p:nvSpPr>
            <p:cNvPr id="51" name="TextBox 51"/>
            <p:cNvSpPr txBox="1"/>
            <p:nvPr/>
          </p:nvSpPr>
          <p:spPr>
            <a:xfrm>
              <a:off x="799148" y="3006566"/>
              <a:ext cx="123110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手机扫描游戏房间二维码</a:t>
              </a:r>
            </a:p>
          </p:txBody>
        </p:sp>
        <p:sp>
          <p:nvSpPr>
            <p:cNvPr id="52" name="TextBox 52"/>
            <p:cNvSpPr txBox="1"/>
            <p:nvPr/>
          </p:nvSpPr>
          <p:spPr>
            <a:xfrm>
              <a:off x="799148" y="3197066"/>
              <a:ext cx="90106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自动同步按键配置</a:t>
              </a:r>
            </a:p>
          </p:txBody>
        </p:sp>
        <p:sp>
          <p:nvSpPr>
            <p:cNvPr id="53" name="TextBox 53"/>
            <p:cNvSpPr txBox="1"/>
            <p:nvPr/>
          </p:nvSpPr>
          <p:spPr>
            <a:xfrm>
              <a:off x="799148" y="3387566"/>
              <a:ext cx="68103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无需手动设置</a:t>
              </a:r>
            </a:p>
          </p:txBody>
        </p:sp>
        <p:sp>
          <p:nvSpPr>
            <p:cNvPr id="54" name="Rectangle 54"/>
            <p:cNvSpPr/>
            <p:nvPr/>
          </p:nvSpPr>
          <p:spPr>
            <a:xfrm>
              <a:off x="3238500" y="2762250"/>
              <a:ext cx="476250" cy="476250"/>
            </a:xfrm>
            <a:prstGeom prst="roundRect">
              <a:avLst>
                <a:gd name="adj" fmla="val 8000"/>
              </a:avLst>
            </a:prstGeom>
            <a:solidFill>
              <a:srgbClr val="FFFFFF"/>
            </a:solidFill>
            <a:ln w="9525">
              <a:solidFill>
                <a:srgbClr val="1E3A5F"/>
              </a:solidFill>
              <a:custDash>
                <a:ds d="400000" sp="200000"/>
              </a:custDash>
            </a:ln>
          </p:spPr>
        </p:sp>
        <p:sp>
          <p:nvSpPr>
            <p:cNvPr id="55" name="TextBox 55"/>
            <p:cNvSpPr txBox="1"/>
            <p:nvPr/>
          </p:nvSpPr>
          <p:spPr>
            <a:xfrm>
              <a:off x="3416998" y="2983230"/>
              <a:ext cx="119253" cy="121920"/>
            </a:xfrm>
            <a:prstGeom prst="rect">
              <a:avLst/>
            </a:prstGeom>
            <a:noFill/>
            <a:ln>
              <a:noFill/>
            </a:ln>
          </p:spPr>
          <p:txBody>
            <a:bodyPr wrap="none" lIns="0" tIns="0" rIns="0" bIns="0" anchor="t" anchorCtr="0">
              <a:spAutoFit/>
            </a:bodyPr>
            <a:lstStyle/>
            <a:p>
              <a:pPr algn="ctr"/>
              <a:r>
                <a:rPr lang="zh-CN" sz="600" dirty="0">
                  <a:solidFill>
                    <a:srgbClr val="1E3A5F"/>
                  </a:solidFill>
                  <a:latin typeface="Arial"/>
                  <a:ea typeface="Microsoft YaHei"/>
                  <a:cs typeface="Arial"/>
                </a:rPr>
                <a:t>QR</a:t>
              </a:r>
            </a:p>
          </p:txBody>
        </p:sp>
      </p:grpSp>
      <p:grpSp>
        <p:nvGrpSpPr>
          <p:cNvPr id="62" name="Group 62"/>
          <p:cNvGrpSpPr/>
          <p:nvPr/>
        </p:nvGrpSpPr>
        <p:grpSpPr>
          <a:xfrm>
            <a:off x="4095750" y="2571750"/>
            <a:ext cx="3333750" cy="1238250"/>
            <a:chOff x="4095750" y="2571750"/>
            <a:chExt cx="3333750" cy="1238250"/>
          </a:xfrm>
        </p:grpSpPr>
        <p:sp>
          <p:nvSpPr>
            <p:cNvPr id="57" name="Rectangle 57"/>
            <p:cNvSpPr/>
            <p:nvPr/>
          </p:nvSpPr>
          <p:spPr>
            <a:xfrm>
              <a:off x="4095750" y="2571750"/>
              <a:ext cx="3333750" cy="1238250"/>
            </a:xfrm>
            <a:prstGeom prst="roundRect">
              <a:avLst>
                <a:gd name="adj" fmla="val 6154"/>
              </a:avLst>
            </a:prstGeom>
            <a:solidFill>
              <a:srgbClr val="F5F7FA"/>
            </a:solidFill>
            <a:ln w="9525">
              <a:solidFill>
                <a:srgbClr val="E5E7EB"/>
              </a:solidFill>
            </a:ln>
          </p:spPr>
        </p:sp>
        <p:sp>
          <p:nvSpPr>
            <p:cNvPr id="58" name="TextBox 58"/>
            <p:cNvSpPr txBox="1"/>
            <p:nvPr/>
          </p:nvSpPr>
          <p:spPr>
            <a:xfrm>
              <a:off x="4320540" y="2744152"/>
              <a:ext cx="614744"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计时规则</a:t>
              </a:r>
            </a:p>
          </p:txBody>
        </p:sp>
        <p:sp>
          <p:nvSpPr>
            <p:cNvPr id="59" name="TextBox 59"/>
            <p:cNvSpPr txBox="1"/>
            <p:nvPr/>
          </p:nvSpPr>
          <p:spPr>
            <a:xfrm>
              <a:off x="4323398" y="3006566"/>
              <a:ext cx="1192601"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倒计时: 3-2-1 统一开始</a:t>
              </a:r>
            </a:p>
          </p:txBody>
        </p:sp>
        <p:sp>
          <p:nvSpPr>
            <p:cNvPr id="60" name="TextBox 60"/>
            <p:cNvSpPr txBox="1"/>
            <p:nvPr/>
          </p:nvSpPr>
          <p:spPr>
            <a:xfrm>
              <a:off x="4323398" y="3197066"/>
              <a:ext cx="1011079"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实时同步多玩家数据</a:t>
              </a:r>
            </a:p>
          </p:txBody>
        </p:sp>
        <p:sp>
          <p:nvSpPr>
            <p:cNvPr id="61" name="TextBox 61"/>
            <p:cNvSpPr txBox="1"/>
            <p:nvPr/>
          </p:nvSpPr>
          <p:spPr>
            <a:xfrm>
              <a:off x="4323398" y="3387566"/>
              <a:ext cx="68103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延迟补偿机制</a:t>
              </a:r>
            </a:p>
          </p:txBody>
        </p:sp>
      </p:grpSp>
      <p:grpSp>
        <p:nvGrpSpPr>
          <p:cNvPr id="68" name="Group 68"/>
          <p:cNvGrpSpPr/>
          <p:nvPr/>
        </p:nvGrpSpPr>
        <p:grpSpPr>
          <a:xfrm>
            <a:off x="7620000" y="2571750"/>
            <a:ext cx="3333750" cy="1238250"/>
            <a:chOff x="7620000" y="2571750"/>
            <a:chExt cx="3333750" cy="1238250"/>
          </a:xfrm>
        </p:grpSpPr>
        <p:sp>
          <p:nvSpPr>
            <p:cNvPr id="63" name="Rectangle 63"/>
            <p:cNvSpPr/>
            <p:nvPr/>
          </p:nvSpPr>
          <p:spPr>
            <a:xfrm>
              <a:off x="7620000" y="2571750"/>
              <a:ext cx="3333750" cy="1238250"/>
            </a:xfrm>
            <a:prstGeom prst="roundRect">
              <a:avLst>
                <a:gd name="adj" fmla="val 6154"/>
              </a:avLst>
            </a:prstGeom>
            <a:solidFill>
              <a:srgbClr val="F5F7FA"/>
            </a:solidFill>
            <a:ln w="9525">
              <a:solidFill>
                <a:srgbClr val="E5E7EB"/>
              </a:solidFill>
            </a:ln>
          </p:spPr>
        </p:sp>
        <p:sp>
          <p:nvSpPr>
            <p:cNvPr id="64" name="TextBox 64"/>
            <p:cNvSpPr txBox="1"/>
            <p:nvPr/>
          </p:nvSpPr>
          <p:spPr>
            <a:xfrm>
              <a:off x="7844790" y="2744152"/>
              <a:ext cx="614744" cy="213360"/>
            </a:xfrm>
            <a:prstGeom prst="rect">
              <a:avLst/>
            </a:prstGeom>
            <a:noFill/>
            <a:ln>
              <a:noFill/>
            </a:ln>
          </p:spPr>
          <p:txBody>
            <a:bodyPr wrap="none" lIns="0" tIns="0" rIns="0" bIns="0" anchor="t" anchorCtr="0">
              <a:spAutoFit/>
            </a:bodyPr>
            <a:lstStyle/>
            <a:p>
              <a:pPr algn="l"/>
              <a:r>
                <a:rPr lang="zh-CN" sz="1050" b="1" dirty="0">
                  <a:solidFill>
                    <a:srgbClr val="1F2937"/>
                  </a:solidFill>
                  <a:latin typeface="Segoe UI"/>
                  <a:ea typeface="SimHei"/>
                  <a:cs typeface="Segoe UI"/>
                </a:rPr>
                <a:t>实时同步</a:t>
              </a:r>
            </a:p>
          </p:txBody>
        </p:sp>
        <p:sp>
          <p:nvSpPr>
            <p:cNvPr id="65" name="TextBox 65"/>
            <p:cNvSpPr txBox="1"/>
            <p:nvPr/>
          </p:nvSpPr>
          <p:spPr>
            <a:xfrm>
              <a:off x="7847648" y="3006566"/>
              <a:ext cx="1121092"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所有设备状态实时传输</a:t>
              </a:r>
            </a:p>
          </p:txBody>
        </p:sp>
        <p:sp>
          <p:nvSpPr>
            <p:cNvPr id="66" name="TextBox 66"/>
            <p:cNvSpPr txBox="1"/>
            <p:nvPr/>
          </p:nvSpPr>
          <p:spPr>
            <a:xfrm>
              <a:off x="7847648" y="3197066"/>
              <a:ext cx="901065"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服务器端统一判定</a:t>
              </a:r>
            </a:p>
          </p:txBody>
        </p:sp>
        <p:sp>
          <p:nvSpPr>
            <p:cNvPr id="67" name="TextBox 67"/>
            <p:cNvSpPr txBox="1"/>
            <p:nvPr/>
          </p:nvSpPr>
          <p:spPr>
            <a:xfrm>
              <a:off x="7847648" y="3387566"/>
              <a:ext cx="57102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防作弊机制</a:t>
              </a:r>
            </a:p>
          </p:txBody>
        </p:sp>
      </p:grpSp>
      <p:grpSp>
        <p:nvGrpSpPr>
          <p:cNvPr id="79" name="Group 79"/>
          <p:cNvGrpSpPr/>
          <p:nvPr/>
        </p:nvGrpSpPr>
        <p:grpSpPr>
          <a:xfrm>
            <a:off x="571500" y="4000500"/>
            <a:ext cx="11049000" cy="1905000"/>
            <a:chOff x="571500" y="4000500"/>
            <a:chExt cx="11049000" cy="1905000"/>
          </a:xfrm>
        </p:grpSpPr>
        <p:sp>
          <p:nvSpPr>
            <p:cNvPr id="69" name="Rectangle 69"/>
            <p:cNvSpPr/>
            <p:nvPr/>
          </p:nvSpPr>
          <p:spPr>
            <a:xfrm>
              <a:off x="571500" y="4000500"/>
              <a:ext cx="11049000" cy="1905000"/>
            </a:xfrm>
            <a:prstGeom prst="roundRect">
              <a:avLst>
                <a:gd name="adj" fmla="val 4000"/>
              </a:avLst>
            </a:prstGeom>
            <a:solidFill>
              <a:srgbClr val="F5F7FA"/>
            </a:solidFill>
            <a:ln w="9525">
              <a:solidFill>
                <a:srgbClr val="E5E7EB"/>
              </a:solidFill>
            </a:ln>
          </p:spPr>
        </p:sp>
        <p:sp>
          <p:nvSpPr>
            <p:cNvPr id="70" name="TextBox 70"/>
            <p:cNvSpPr txBox="1"/>
            <p:nvPr/>
          </p:nvSpPr>
          <p:spPr>
            <a:xfrm>
              <a:off x="842010" y="4204335"/>
              <a:ext cx="1374648"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Segoe UI"/>
                  <a:ea typeface="SimHei"/>
                  <a:cs typeface="Segoe UI"/>
                </a:rPr>
                <a:t>典型游戏互动示例</a:t>
              </a:r>
            </a:p>
          </p:txBody>
        </p:sp>
        <p:grpSp>
          <p:nvGrpSpPr>
            <p:cNvPr id="78" name="Group 78"/>
            <p:cNvGrpSpPr/>
            <p:nvPr/>
          </p:nvGrpSpPr>
          <p:grpSpPr>
            <a:xfrm>
              <a:off x="857250" y="4572000"/>
              <a:ext cx="10477500" cy="1143000"/>
              <a:chOff x="857250" y="4572000"/>
              <a:chExt cx="10477500" cy="1143000"/>
            </a:xfrm>
          </p:grpSpPr>
          <p:sp>
            <p:nvSpPr>
              <p:cNvPr id="71" name="Rectangle 71"/>
              <p:cNvSpPr/>
              <p:nvPr/>
            </p:nvSpPr>
            <p:spPr>
              <a:xfrm>
                <a:off x="857250" y="4572000"/>
                <a:ext cx="10477500" cy="1143000"/>
              </a:xfrm>
              <a:prstGeom prst="roundRect">
                <a:avLst>
                  <a:gd name="adj" fmla="val 6667"/>
                </a:avLst>
              </a:prstGeom>
              <a:solidFill>
                <a:srgbClr val="FFFFFF"/>
              </a:solidFill>
              <a:ln w="9525">
                <a:solidFill>
                  <a:srgbClr val="E5E7EB"/>
                </a:solidFill>
              </a:ln>
            </p:spPr>
          </p:sp>
          <p:grpSp>
            <p:nvGrpSpPr>
              <p:cNvPr id="77" name="Group 77"/>
              <p:cNvGrpSpPr/>
              <p:nvPr/>
            </p:nvGrpSpPr>
            <p:grpSpPr>
              <a:xfrm>
                <a:off x="1083945" y="4665345"/>
                <a:ext cx="2073664" cy="937736"/>
                <a:chOff x="1083945" y="4665345"/>
                <a:chExt cx="2073664" cy="937736"/>
              </a:xfrm>
            </p:grpSpPr>
            <p:sp>
              <p:nvSpPr>
                <p:cNvPr id="72" name="TextBox 72"/>
                <p:cNvSpPr txBox="1"/>
                <p:nvPr/>
              </p:nvSpPr>
              <p:spPr>
                <a:xfrm>
                  <a:off x="1083945" y="4665345"/>
                  <a:ext cx="886068" cy="182880"/>
                </a:xfrm>
                <a:prstGeom prst="rect">
                  <a:avLst/>
                </a:prstGeom>
                <a:noFill/>
                <a:ln>
                  <a:noFill/>
                </a:ln>
              </p:spPr>
              <p:txBody>
                <a:bodyPr wrap="none" lIns="0" tIns="0" rIns="0" bIns="0" anchor="t" anchorCtr="0">
                  <a:spAutoFit/>
                </a:bodyPr>
                <a:lstStyle/>
                <a:p>
                  <a:pPr algn="l"/>
                  <a:r>
                    <a:rPr lang="zh-CN" sz="900" b="1" dirty="0">
                      <a:solidFill>
                        <a:srgbClr val="2563EB"/>
                      </a:solidFill>
                      <a:latin typeface="Arial"/>
                      <a:ea typeface="Microsoft YaHei"/>
                      <a:cs typeface="Arial"/>
                    </a:rPr>
                    <a:t>场景: 赛车起步</a:t>
                  </a:r>
                </a:p>
              </p:txBody>
            </p:sp>
            <p:sp>
              <p:nvSpPr>
                <p:cNvPr id="73" name="TextBox 73"/>
                <p:cNvSpPr txBox="1"/>
                <p:nvPr/>
              </p:nvSpPr>
              <p:spPr>
                <a:xfrm>
                  <a:off x="1084898" y="4863941"/>
                  <a:ext cx="1907691"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1. 选好角色后，所有玩家进入准备状态</a:t>
                  </a:r>
                </a:p>
              </p:txBody>
            </p:sp>
            <p:sp>
              <p:nvSpPr>
                <p:cNvPr id="74" name="TextBox 74"/>
                <p:cNvSpPr txBox="1"/>
                <p:nvPr/>
              </p:nvSpPr>
              <p:spPr>
                <a:xfrm>
                  <a:off x="1084898" y="5054441"/>
                  <a:ext cx="1451134"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2. 主持人发起"3-2-1"倒计时</a:t>
                  </a:r>
                </a:p>
              </p:txBody>
            </p:sp>
            <p:sp>
              <p:nvSpPr>
                <p:cNvPr id="75" name="TextBox 75"/>
                <p:cNvSpPr txBox="1"/>
                <p:nvPr/>
              </p:nvSpPr>
              <p:spPr>
                <a:xfrm>
                  <a:off x="1084898" y="5244941"/>
                  <a:ext cx="2072711"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3. 听到"开始"后，同时放刹车 + 旋转手把</a:t>
                  </a:r>
                </a:p>
              </p:txBody>
            </p:sp>
            <p:sp>
              <p:nvSpPr>
                <p:cNvPr id="76" name="TextBox 76"/>
                <p:cNvSpPr txBox="1"/>
                <p:nvPr/>
              </p:nvSpPr>
              <p:spPr>
                <a:xfrm>
                  <a:off x="1084898" y="5435441"/>
                  <a:ext cx="2045208"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4. 手把角度直接对应油门开度，最快者胜</a:t>
                  </a:r>
                </a:p>
              </p:txBody>
            </p:sp>
          </p:grpSp>
        </p:grpSp>
      </p:grpSp>
      <p:sp>
        <p:nvSpPr>
          <p:cNvPr id="80" name="Rectangle 80"/>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1633518"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APPLICATIONS</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07 / 09</a:t>
            </a:r>
          </a:p>
        </p:txBody>
      </p:sp>
      <p:sp>
        <p:nvSpPr>
          <p:cNvPr id="6" name="Rectangle 6"/>
          <p:cNvSpPr/>
          <p:nvPr/>
        </p:nvSpPr>
        <p:spPr>
          <a:xfrm>
            <a:off x="571500" y="523875"/>
            <a:ext cx="762000" cy="28575"/>
          </a:xfrm>
          <a:prstGeom prst="rect">
            <a:avLst/>
          </a:prstGeom>
          <a:solidFill>
            <a:srgbClr val="2563EB"/>
          </a:solidFill>
          <a:ln>
            <a:noFill/>
          </a:ln>
        </p:spPr>
      </p:sp>
      <p:grpSp>
        <p:nvGrpSpPr>
          <p:cNvPr id="19" name="Group 19"/>
          <p:cNvGrpSpPr/>
          <p:nvPr/>
        </p:nvGrpSpPr>
        <p:grpSpPr>
          <a:xfrm>
            <a:off x="571500" y="857250"/>
            <a:ext cx="5334000" cy="2286000"/>
            <a:chOff x="571500" y="857250"/>
            <a:chExt cx="5334000" cy="2286000"/>
          </a:xfrm>
        </p:grpSpPr>
        <p:sp>
          <p:nvSpPr>
            <p:cNvPr id="7" name="Rectangle 7"/>
            <p:cNvSpPr/>
            <p:nvPr/>
          </p:nvSpPr>
          <p:spPr>
            <a:xfrm>
              <a:off x="571500" y="857250"/>
              <a:ext cx="5334000" cy="2286000"/>
            </a:xfrm>
            <a:prstGeom prst="roundRect">
              <a:avLst>
                <a:gd name="adj" fmla="val 4167"/>
              </a:avLst>
            </a:prstGeom>
            <a:solidFill>
              <a:srgbClr val="F5F7FA"/>
            </a:solidFill>
            <a:ln w="9525">
              <a:solidFill>
                <a:srgbClr val="E5E7EB"/>
              </a:solidFill>
            </a:ln>
          </p:spPr>
        </p:sp>
        <p:sp>
          <p:nvSpPr>
            <p:cNvPr id="8" name="Rectangle 8"/>
            <p:cNvSpPr/>
            <p:nvPr/>
          </p:nvSpPr>
          <p:spPr>
            <a:xfrm>
              <a:off x="571500" y="857250"/>
              <a:ext cx="762000" cy="333375"/>
            </a:xfrm>
            <a:prstGeom prst="roundRect">
              <a:avLst>
                <a:gd name="adj" fmla="val 28571"/>
              </a:avLst>
            </a:prstGeom>
            <a:solidFill>
              <a:srgbClr val="1E3A5F"/>
            </a:solidFill>
            <a:ln>
              <a:noFill/>
            </a:ln>
          </p:spPr>
        </p:sp>
        <p:sp>
          <p:nvSpPr>
            <p:cNvPr id="9" name="TextBox 9"/>
            <p:cNvSpPr txBox="1"/>
            <p:nvPr/>
          </p:nvSpPr>
          <p:spPr>
            <a:xfrm>
              <a:off x="695339" y="988695"/>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SCENE 01</a:t>
              </a:r>
            </a:p>
          </p:txBody>
        </p:sp>
        <p:sp>
          <p:nvSpPr>
            <p:cNvPr id="10" name="TextBox 10"/>
            <p:cNvSpPr txBox="1"/>
            <p:nvPr/>
          </p:nvSpPr>
          <p:spPr>
            <a:xfrm>
              <a:off x="790575" y="1457325"/>
              <a:ext cx="878205"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Segoe UI"/>
                  <a:ea typeface="SimHei"/>
                  <a:cs typeface="Segoe UI"/>
                </a:rPr>
                <a:t>赛车游戏</a:t>
              </a:r>
            </a:p>
          </p:txBody>
        </p:sp>
        <p:sp>
          <p:nvSpPr>
            <p:cNvPr id="11" name="TextBox 11"/>
            <p:cNvSpPr txBox="1"/>
            <p:nvPr/>
          </p:nvSpPr>
          <p:spPr>
            <a:xfrm>
              <a:off x="798195" y="1760220"/>
              <a:ext cx="50292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适用类型</a:t>
              </a:r>
            </a:p>
          </p:txBody>
        </p:sp>
        <p:sp>
          <p:nvSpPr>
            <p:cNvPr id="12" name="TextBox 12"/>
            <p:cNvSpPr txBox="1"/>
            <p:nvPr/>
          </p:nvSpPr>
          <p:spPr>
            <a:xfrm>
              <a:off x="797242" y="1990249"/>
              <a:ext cx="186449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模拟赛车类 (Assetto Corsa)</a:t>
              </a:r>
            </a:p>
          </p:txBody>
        </p:sp>
        <p:sp>
          <p:nvSpPr>
            <p:cNvPr id="13" name="TextBox 13"/>
            <p:cNvSpPr txBox="1"/>
            <p:nvPr/>
          </p:nvSpPr>
          <p:spPr>
            <a:xfrm>
              <a:off x="797242" y="2180749"/>
              <a:ext cx="1617464"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街机赛车类 (马里奥赛车)</a:t>
              </a:r>
            </a:p>
          </p:txBody>
        </p:sp>
        <p:sp>
          <p:nvSpPr>
            <p:cNvPr id="14" name="TextBox 14"/>
            <p:cNvSpPr txBox="1"/>
            <p:nvPr/>
          </p:nvSpPr>
          <p:spPr>
            <a:xfrm>
              <a:off x="797242" y="2371249"/>
              <a:ext cx="142244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摩托竞速类 (MotoGP)</a:t>
              </a:r>
            </a:p>
          </p:txBody>
        </p:sp>
        <p:sp>
          <p:nvSpPr>
            <p:cNvPr id="15" name="Rectangle 15"/>
            <p:cNvSpPr/>
            <p:nvPr/>
          </p:nvSpPr>
          <p:spPr>
            <a:xfrm>
              <a:off x="809625" y="2762250"/>
              <a:ext cx="762000" cy="209550"/>
            </a:xfrm>
            <a:prstGeom prst="roundRect">
              <a:avLst>
                <a:gd name="adj" fmla="val 50000"/>
              </a:avLst>
            </a:prstGeom>
            <a:solidFill>
              <a:srgbClr val="FFFFFF"/>
            </a:solidFill>
            <a:ln w="9525">
              <a:solidFill>
                <a:srgbClr val="1E3A5F"/>
              </a:solidFill>
            </a:ln>
          </p:spPr>
        </p:sp>
        <p:sp>
          <p:nvSpPr>
            <p:cNvPr id="16" name="TextBox 16"/>
            <p:cNvSpPr txBox="1"/>
            <p:nvPr/>
          </p:nvSpPr>
          <p:spPr>
            <a:xfrm>
              <a:off x="1070134" y="2816066"/>
              <a:ext cx="240982" cy="167640"/>
            </a:xfrm>
            <a:prstGeom prst="rect">
              <a:avLst/>
            </a:prstGeom>
            <a:noFill/>
            <a:ln>
              <a:noFill/>
            </a:ln>
          </p:spPr>
          <p:txBody>
            <a:bodyPr wrap="none" lIns="0" tIns="0" rIns="0" bIns="0" anchor="t" anchorCtr="0">
              <a:spAutoFit/>
            </a:bodyPr>
            <a:lstStyle/>
            <a:p>
              <a:pPr algn="ctr"/>
              <a:r>
                <a:rPr lang="zh-CN" sz="825" dirty="0">
                  <a:solidFill>
                    <a:srgbClr val="1E3A5F"/>
                  </a:solidFill>
                  <a:latin typeface="Arial"/>
                  <a:ea typeface="Microsoft YaHei"/>
                  <a:cs typeface="Arial"/>
                </a:rPr>
                <a:t>核心</a:t>
              </a:r>
            </a:p>
          </p:txBody>
        </p:sp>
        <p:sp>
          <p:nvSpPr>
            <p:cNvPr id="17" name="Rectangle 17"/>
            <p:cNvSpPr/>
            <p:nvPr/>
          </p:nvSpPr>
          <p:spPr>
            <a:xfrm>
              <a:off x="1666875" y="2762250"/>
              <a:ext cx="762000" cy="209550"/>
            </a:xfrm>
            <a:prstGeom prst="roundRect">
              <a:avLst>
                <a:gd name="adj" fmla="val 50000"/>
              </a:avLst>
            </a:prstGeom>
            <a:solidFill>
              <a:srgbClr val="FFFFFF"/>
            </a:solidFill>
            <a:ln w="9525">
              <a:solidFill>
                <a:srgbClr val="1E3A5F"/>
              </a:solidFill>
            </a:ln>
          </p:spPr>
        </p:sp>
        <p:sp>
          <p:nvSpPr>
            <p:cNvPr id="18" name="TextBox 18"/>
            <p:cNvSpPr txBox="1"/>
            <p:nvPr/>
          </p:nvSpPr>
          <p:spPr>
            <a:xfrm>
              <a:off x="1927384" y="2816066"/>
              <a:ext cx="240982" cy="167640"/>
            </a:xfrm>
            <a:prstGeom prst="rect">
              <a:avLst/>
            </a:prstGeom>
            <a:noFill/>
            <a:ln>
              <a:noFill/>
            </a:ln>
          </p:spPr>
          <p:txBody>
            <a:bodyPr wrap="none" lIns="0" tIns="0" rIns="0" bIns="0" anchor="t" anchorCtr="0">
              <a:spAutoFit/>
            </a:bodyPr>
            <a:lstStyle/>
            <a:p>
              <a:pPr algn="ctr"/>
              <a:r>
                <a:rPr lang="zh-CN" sz="825" dirty="0">
                  <a:solidFill>
                    <a:srgbClr val="1E3A5F"/>
                  </a:solidFill>
                  <a:latin typeface="Arial"/>
                  <a:ea typeface="Microsoft YaHei"/>
                  <a:cs typeface="Arial"/>
                </a:rPr>
                <a:t>沉浸</a:t>
              </a:r>
            </a:p>
          </p:txBody>
        </p:sp>
      </p:grpSp>
      <p:grpSp>
        <p:nvGrpSpPr>
          <p:cNvPr id="32" name="Group 32"/>
          <p:cNvGrpSpPr/>
          <p:nvPr/>
        </p:nvGrpSpPr>
        <p:grpSpPr>
          <a:xfrm>
            <a:off x="6286500" y="857250"/>
            <a:ext cx="5334000" cy="2286000"/>
            <a:chOff x="6286500" y="857250"/>
            <a:chExt cx="5334000" cy="2286000"/>
          </a:xfrm>
        </p:grpSpPr>
        <p:sp>
          <p:nvSpPr>
            <p:cNvPr id="20" name="Rectangle 20"/>
            <p:cNvSpPr/>
            <p:nvPr/>
          </p:nvSpPr>
          <p:spPr>
            <a:xfrm>
              <a:off x="6286500" y="857250"/>
              <a:ext cx="5334000" cy="2286000"/>
            </a:xfrm>
            <a:prstGeom prst="roundRect">
              <a:avLst>
                <a:gd name="adj" fmla="val 4167"/>
              </a:avLst>
            </a:prstGeom>
            <a:solidFill>
              <a:srgbClr val="F5F7FA"/>
            </a:solidFill>
            <a:ln w="9525">
              <a:solidFill>
                <a:srgbClr val="E5E7EB"/>
              </a:solidFill>
            </a:ln>
          </p:spPr>
        </p:sp>
        <p:sp>
          <p:nvSpPr>
            <p:cNvPr id="21" name="Rectangle 21"/>
            <p:cNvSpPr/>
            <p:nvPr/>
          </p:nvSpPr>
          <p:spPr>
            <a:xfrm>
              <a:off x="6286500" y="857250"/>
              <a:ext cx="762000" cy="333375"/>
            </a:xfrm>
            <a:prstGeom prst="roundRect">
              <a:avLst>
                <a:gd name="adj" fmla="val 28571"/>
              </a:avLst>
            </a:prstGeom>
            <a:solidFill>
              <a:srgbClr val="2563EB"/>
            </a:solidFill>
            <a:ln>
              <a:noFill/>
            </a:ln>
          </p:spPr>
        </p:sp>
        <p:sp>
          <p:nvSpPr>
            <p:cNvPr id="22" name="TextBox 22"/>
            <p:cNvSpPr txBox="1"/>
            <p:nvPr/>
          </p:nvSpPr>
          <p:spPr>
            <a:xfrm>
              <a:off x="6394587" y="988695"/>
              <a:ext cx="54582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SCENE 02</a:t>
              </a:r>
            </a:p>
          </p:txBody>
        </p:sp>
        <p:sp>
          <p:nvSpPr>
            <p:cNvPr id="23" name="TextBox 23"/>
            <p:cNvSpPr txBox="1"/>
            <p:nvPr/>
          </p:nvSpPr>
          <p:spPr>
            <a:xfrm>
              <a:off x="6505575" y="1457325"/>
              <a:ext cx="668179"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Segoe UI"/>
                  <a:ea typeface="SimHei"/>
                  <a:cs typeface="Segoe UI"/>
                </a:rPr>
                <a:t>电竞馆</a:t>
              </a:r>
            </a:p>
          </p:txBody>
        </p:sp>
        <p:sp>
          <p:nvSpPr>
            <p:cNvPr id="24" name="TextBox 24"/>
            <p:cNvSpPr txBox="1"/>
            <p:nvPr/>
          </p:nvSpPr>
          <p:spPr>
            <a:xfrm>
              <a:off x="6513195" y="1760220"/>
              <a:ext cx="50292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设备配置</a:t>
              </a:r>
            </a:p>
          </p:txBody>
        </p:sp>
        <p:sp>
          <p:nvSpPr>
            <p:cNvPr id="25" name="TextBox 25"/>
            <p:cNvSpPr txBox="1"/>
            <p:nvPr/>
          </p:nvSpPr>
          <p:spPr>
            <a:xfrm>
              <a:off x="6512242" y="1990249"/>
              <a:ext cx="1337929"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6-12 套设备统一部署</a:t>
              </a:r>
            </a:p>
          </p:txBody>
        </p:sp>
        <p:sp>
          <p:nvSpPr>
            <p:cNvPr id="26" name="TextBox 26"/>
            <p:cNvSpPr txBox="1"/>
            <p:nvPr/>
          </p:nvSpPr>
          <p:spPr>
            <a:xfrm>
              <a:off x="6512242" y="21807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实时对战排行榜</a:t>
              </a:r>
            </a:p>
          </p:txBody>
        </p:sp>
        <p:sp>
          <p:nvSpPr>
            <p:cNvPr id="27" name="TextBox 27"/>
            <p:cNvSpPr txBox="1"/>
            <p:nvPr/>
          </p:nvSpPr>
          <p:spPr>
            <a:xfrm>
              <a:off x="6512242" y="23712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比赛模式可配置</a:t>
              </a:r>
            </a:p>
          </p:txBody>
        </p:sp>
        <p:sp>
          <p:nvSpPr>
            <p:cNvPr id="28" name="Rectangle 28"/>
            <p:cNvSpPr/>
            <p:nvPr/>
          </p:nvSpPr>
          <p:spPr>
            <a:xfrm>
              <a:off x="6524625" y="2762250"/>
              <a:ext cx="762000" cy="209550"/>
            </a:xfrm>
            <a:prstGeom prst="roundRect">
              <a:avLst>
                <a:gd name="adj" fmla="val 50000"/>
              </a:avLst>
            </a:prstGeom>
            <a:solidFill>
              <a:srgbClr val="FFFFFF"/>
            </a:solidFill>
            <a:ln w="9525">
              <a:solidFill>
                <a:srgbClr val="2563EB"/>
              </a:solidFill>
            </a:ln>
          </p:spPr>
        </p:sp>
        <p:sp>
          <p:nvSpPr>
            <p:cNvPr id="29" name="TextBox 29"/>
            <p:cNvSpPr txBox="1"/>
            <p:nvPr/>
          </p:nvSpPr>
          <p:spPr>
            <a:xfrm>
              <a:off x="6785134" y="2816066"/>
              <a:ext cx="240982" cy="167640"/>
            </a:xfrm>
            <a:prstGeom prst="rect">
              <a:avLst/>
            </a:prstGeom>
            <a:noFill/>
            <a:ln>
              <a:noFill/>
            </a:ln>
          </p:spPr>
          <p:txBody>
            <a:bodyPr wrap="none" lIns="0" tIns="0" rIns="0" bIns="0" anchor="t" anchorCtr="0">
              <a:spAutoFit/>
            </a:bodyPr>
            <a:lstStyle/>
            <a:p>
              <a:pPr algn="ctr"/>
              <a:r>
                <a:rPr lang="zh-CN" sz="825" dirty="0">
                  <a:solidFill>
                    <a:srgbClr val="2563EB"/>
                  </a:solidFill>
                  <a:latin typeface="Arial"/>
                  <a:ea typeface="Microsoft YaHei"/>
                  <a:cs typeface="Arial"/>
                </a:rPr>
                <a:t>对战</a:t>
              </a:r>
            </a:p>
          </p:txBody>
        </p:sp>
        <p:sp>
          <p:nvSpPr>
            <p:cNvPr id="30" name="Rectangle 30"/>
            <p:cNvSpPr/>
            <p:nvPr/>
          </p:nvSpPr>
          <p:spPr>
            <a:xfrm>
              <a:off x="7381875" y="2762250"/>
              <a:ext cx="762000" cy="209550"/>
            </a:xfrm>
            <a:prstGeom prst="roundRect">
              <a:avLst>
                <a:gd name="adj" fmla="val 50000"/>
              </a:avLst>
            </a:prstGeom>
            <a:solidFill>
              <a:srgbClr val="FFFFFF"/>
            </a:solidFill>
            <a:ln w="9525">
              <a:solidFill>
                <a:srgbClr val="2563EB"/>
              </a:solidFill>
            </a:ln>
          </p:spPr>
        </p:sp>
        <p:sp>
          <p:nvSpPr>
            <p:cNvPr id="31" name="TextBox 31"/>
            <p:cNvSpPr txBox="1"/>
            <p:nvPr/>
          </p:nvSpPr>
          <p:spPr>
            <a:xfrm>
              <a:off x="7642384" y="2816066"/>
              <a:ext cx="240982" cy="167640"/>
            </a:xfrm>
            <a:prstGeom prst="rect">
              <a:avLst/>
            </a:prstGeom>
            <a:noFill/>
            <a:ln>
              <a:noFill/>
            </a:ln>
          </p:spPr>
          <p:txBody>
            <a:bodyPr wrap="none" lIns="0" tIns="0" rIns="0" bIns="0" anchor="t" anchorCtr="0">
              <a:spAutoFit/>
            </a:bodyPr>
            <a:lstStyle/>
            <a:p>
              <a:pPr algn="ctr"/>
              <a:r>
                <a:rPr lang="zh-CN" sz="825" dirty="0">
                  <a:solidFill>
                    <a:srgbClr val="2563EB"/>
                  </a:solidFill>
                  <a:latin typeface="Arial"/>
                  <a:ea typeface="Microsoft YaHei"/>
                  <a:cs typeface="Arial"/>
                </a:rPr>
                <a:t>排行</a:t>
              </a:r>
            </a:p>
          </p:txBody>
        </p:sp>
      </p:grpSp>
      <p:grpSp>
        <p:nvGrpSpPr>
          <p:cNvPr id="45" name="Group 45"/>
          <p:cNvGrpSpPr/>
          <p:nvPr/>
        </p:nvGrpSpPr>
        <p:grpSpPr>
          <a:xfrm>
            <a:off x="571500" y="3333750"/>
            <a:ext cx="5334000" cy="2286000"/>
            <a:chOff x="571500" y="3333750"/>
            <a:chExt cx="5334000" cy="2286000"/>
          </a:xfrm>
        </p:grpSpPr>
        <p:sp>
          <p:nvSpPr>
            <p:cNvPr id="33" name="Rectangle 33"/>
            <p:cNvSpPr/>
            <p:nvPr/>
          </p:nvSpPr>
          <p:spPr>
            <a:xfrm>
              <a:off x="571500" y="3333750"/>
              <a:ext cx="5334000" cy="2286000"/>
            </a:xfrm>
            <a:prstGeom prst="roundRect">
              <a:avLst>
                <a:gd name="adj" fmla="val 4167"/>
              </a:avLst>
            </a:prstGeom>
            <a:solidFill>
              <a:srgbClr val="F5F7FA"/>
            </a:solidFill>
            <a:ln w="9525">
              <a:solidFill>
                <a:srgbClr val="E5E7EB"/>
              </a:solidFill>
            </a:ln>
          </p:spPr>
        </p:sp>
        <p:sp>
          <p:nvSpPr>
            <p:cNvPr id="34" name="Rectangle 34"/>
            <p:cNvSpPr/>
            <p:nvPr/>
          </p:nvSpPr>
          <p:spPr>
            <a:xfrm>
              <a:off x="571500" y="3333750"/>
              <a:ext cx="762000" cy="333375"/>
            </a:xfrm>
            <a:prstGeom prst="roundRect">
              <a:avLst>
                <a:gd name="adj" fmla="val 28571"/>
              </a:avLst>
            </a:prstGeom>
            <a:solidFill>
              <a:srgbClr val="3B82F6"/>
            </a:solidFill>
            <a:ln>
              <a:noFill/>
            </a:ln>
          </p:spPr>
        </p:sp>
        <p:sp>
          <p:nvSpPr>
            <p:cNvPr id="35" name="TextBox 35"/>
            <p:cNvSpPr txBox="1"/>
            <p:nvPr/>
          </p:nvSpPr>
          <p:spPr>
            <a:xfrm>
              <a:off x="679587" y="3465195"/>
              <a:ext cx="54582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SCENE 03</a:t>
              </a:r>
            </a:p>
          </p:txBody>
        </p:sp>
        <p:sp>
          <p:nvSpPr>
            <p:cNvPr id="36" name="TextBox 36"/>
            <p:cNvSpPr txBox="1"/>
            <p:nvPr/>
          </p:nvSpPr>
          <p:spPr>
            <a:xfrm>
              <a:off x="790575" y="3933825"/>
              <a:ext cx="1539788"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Segoe UI"/>
                  <a:ea typeface="SimHei"/>
                  <a:cs typeface="Segoe UI"/>
                </a:rPr>
                <a:t>桌游吧 / 体验店</a:t>
              </a:r>
            </a:p>
          </p:txBody>
        </p:sp>
        <p:sp>
          <p:nvSpPr>
            <p:cNvPr id="37" name="TextBox 37"/>
            <p:cNvSpPr txBox="1"/>
            <p:nvPr/>
          </p:nvSpPr>
          <p:spPr>
            <a:xfrm>
              <a:off x="798195" y="4236720"/>
              <a:ext cx="50292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商业场景</a:t>
              </a:r>
            </a:p>
          </p:txBody>
        </p:sp>
        <p:sp>
          <p:nvSpPr>
            <p:cNvPr id="38" name="TextBox 38"/>
            <p:cNvSpPr txBox="1"/>
            <p:nvPr/>
          </p:nvSpPr>
          <p:spPr>
            <a:xfrm>
              <a:off x="797242" y="4466749"/>
              <a:ext cx="1175409"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改装战斗模式为主</a:t>
              </a:r>
            </a:p>
          </p:txBody>
        </p:sp>
        <p:sp>
          <p:nvSpPr>
            <p:cNvPr id="39" name="TextBox 39"/>
            <p:cNvSpPr txBox="1"/>
            <p:nvPr/>
          </p:nvSpPr>
          <p:spPr>
            <a:xfrm>
              <a:off x="797242" y="46572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现场小比赛组织</a:t>
              </a:r>
            </a:p>
          </p:txBody>
        </p:sp>
        <p:sp>
          <p:nvSpPr>
            <p:cNvPr id="40" name="TextBox 40"/>
            <p:cNvSpPr txBox="1"/>
            <p:nvPr/>
          </p:nvSpPr>
          <p:spPr>
            <a:xfrm>
              <a:off x="797242" y="48477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设备租赁可定制</a:t>
              </a:r>
            </a:p>
          </p:txBody>
        </p:sp>
        <p:sp>
          <p:nvSpPr>
            <p:cNvPr id="41" name="Rectangle 41"/>
            <p:cNvSpPr/>
            <p:nvPr/>
          </p:nvSpPr>
          <p:spPr>
            <a:xfrm>
              <a:off x="809625" y="5238750"/>
              <a:ext cx="762000" cy="209550"/>
            </a:xfrm>
            <a:prstGeom prst="roundRect">
              <a:avLst>
                <a:gd name="adj" fmla="val 50000"/>
              </a:avLst>
            </a:prstGeom>
            <a:solidFill>
              <a:srgbClr val="FFFFFF"/>
            </a:solidFill>
            <a:ln w="9525">
              <a:solidFill>
                <a:srgbClr val="3B82F6"/>
              </a:solidFill>
            </a:ln>
          </p:spPr>
        </p:sp>
        <p:sp>
          <p:nvSpPr>
            <p:cNvPr id="42" name="TextBox 42"/>
            <p:cNvSpPr txBox="1"/>
            <p:nvPr/>
          </p:nvSpPr>
          <p:spPr>
            <a:xfrm>
              <a:off x="1070134" y="5292566"/>
              <a:ext cx="240982" cy="167640"/>
            </a:xfrm>
            <a:prstGeom prst="rect">
              <a:avLst/>
            </a:prstGeom>
            <a:noFill/>
            <a:ln>
              <a:noFill/>
            </a:ln>
          </p:spPr>
          <p:txBody>
            <a:bodyPr wrap="none" lIns="0" tIns="0" rIns="0" bIns="0" anchor="t" anchorCtr="0">
              <a:spAutoFit/>
            </a:bodyPr>
            <a:lstStyle/>
            <a:p>
              <a:pPr algn="ctr"/>
              <a:r>
                <a:rPr lang="zh-CN" sz="825" dirty="0">
                  <a:solidFill>
                    <a:srgbClr val="3B82F6"/>
                  </a:solidFill>
                  <a:latin typeface="Arial"/>
                  <a:ea typeface="Microsoft YaHei"/>
                  <a:cs typeface="Arial"/>
                </a:rPr>
                <a:t>趣味</a:t>
              </a:r>
            </a:p>
          </p:txBody>
        </p:sp>
        <p:sp>
          <p:nvSpPr>
            <p:cNvPr id="43" name="Rectangle 43"/>
            <p:cNvSpPr/>
            <p:nvPr/>
          </p:nvSpPr>
          <p:spPr>
            <a:xfrm>
              <a:off x="1666875" y="5238750"/>
              <a:ext cx="762000" cy="209550"/>
            </a:xfrm>
            <a:prstGeom prst="roundRect">
              <a:avLst>
                <a:gd name="adj" fmla="val 50000"/>
              </a:avLst>
            </a:prstGeom>
            <a:solidFill>
              <a:srgbClr val="FFFFFF"/>
            </a:solidFill>
            <a:ln w="9525">
              <a:solidFill>
                <a:srgbClr val="3B82F6"/>
              </a:solidFill>
            </a:ln>
          </p:spPr>
        </p:sp>
        <p:sp>
          <p:nvSpPr>
            <p:cNvPr id="44" name="TextBox 44"/>
            <p:cNvSpPr txBox="1"/>
            <p:nvPr/>
          </p:nvSpPr>
          <p:spPr>
            <a:xfrm>
              <a:off x="1927384" y="5292566"/>
              <a:ext cx="240982" cy="167640"/>
            </a:xfrm>
            <a:prstGeom prst="rect">
              <a:avLst/>
            </a:prstGeom>
            <a:noFill/>
            <a:ln>
              <a:noFill/>
            </a:ln>
          </p:spPr>
          <p:txBody>
            <a:bodyPr wrap="none" lIns="0" tIns="0" rIns="0" bIns="0" anchor="t" anchorCtr="0">
              <a:spAutoFit/>
            </a:bodyPr>
            <a:lstStyle/>
            <a:p>
              <a:pPr algn="ctr"/>
              <a:r>
                <a:rPr lang="zh-CN" sz="825" dirty="0">
                  <a:solidFill>
                    <a:srgbClr val="3B82F6"/>
                  </a:solidFill>
                  <a:latin typeface="Arial"/>
                  <a:ea typeface="Microsoft YaHei"/>
                  <a:cs typeface="Arial"/>
                </a:rPr>
                <a:t>社交</a:t>
              </a:r>
            </a:p>
          </p:txBody>
        </p:sp>
      </p:grpSp>
      <p:grpSp>
        <p:nvGrpSpPr>
          <p:cNvPr id="58" name="Group 58"/>
          <p:cNvGrpSpPr/>
          <p:nvPr/>
        </p:nvGrpSpPr>
        <p:grpSpPr>
          <a:xfrm>
            <a:off x="6286500" y="3333750"/>
            <a:ext cx="5334000" cy="2286000"/>
            <a:chOff x="6286500" y="3333750"/>
            <a:chExt cx="5334000" cy="2286000"/>
          </a:xfrm>
        </p:grpSpPr>
        <p:sp>
          <p:nvSpPr>
            <p:cNvPr id="46" name="Rectangle 46"/>
            <p:cNvSpPr/>
            <p:nvPr/>
          </p:nvSpPr>
          <p:spPr>
            <a:xfrm>
              <a:off x="6286500" y="3333750"/>
              <a:ext cx="5334000" cy="2286000"/>
            </a:xfrm>
            <a:prstGeom prst="roundRect">
              <a:avLst>
                <a:gd name="adj" fmla="val 4167"/>
              </a:avLst>
            </a:prstGeom>
            <a:solidFill>
              <a:srgbClr val="F5F7FA"/>
            </a:solidFill>
            <a:ln w="9525">
              <a:solidFill>
                <a:srgbClr val="E5E7EB"/>
              </a:solidFill>
            </a:ln>
          </p:spPr>
        </p:sp>
        <p:sp>
          <p:nvSpPr>
            <p:cNvPr id="47" name="Rectangle 47"/>
            <p:cNvSpPr/>
            <p:nvPr/>
          </p:nvSpPr>
          <p:spPr>
            <a:xfrm>
              <a:off x="6286500" y="3333750"/>
              <a:ext cx="762000" cy="333375"/>
            </a:xfrm>
            <a:prstGeom prst="roundRect">
              <a:avLst>
                <a:gd name="adj" fmla="val 28571"/>
              </a:avLst>
            </a:prstGeom>
            <a:solidFill>
              <a:srgbClr val="10B981"/>
            </a:solidFill>
            <a:ln>
              <a:noFill/>
            </a:ln>
          </p:spPr>
        </p:sp>
        <p:sp>
          <p:nvSpPr>
            <p:cNvPr id="48" name="TextBox 48"/>
            <p:cNvSpPr txBox="1"/>
            <p:nvPr/>
          </p:nvSpPr>
          <p:spPr>
            <a:xfrm>
              <a:off x="6394587" y="3465195"/>
              <a:ext cx="54582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SCENE 04</a:t>
              </a:r>
            </a:p>
          </p:txBody>
        </p:sp>
        <p:sp>
          <p:nvSpPr>
            <p:cNvPr id="49" name="TextBox 49"/>
            <p:cNvSpPr txBox="1"/>
            <p:nvPr/>
          </p:nvSpPr>
          <p:spPr>
            <a:xfrm>
              <a:off x="6505575" y="3933825"/>
              <a:ext cx="878205"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Segoe UI"/>
                  <a:ea typeface="SimHei"/>
                  <a:cs typeface="Segoe UI"/>
                </a:rPr>
                <a:t>线下活动</a:t>
              </a:r>
            </a:p>
          </p:txBody>
        </p:sp>
        <p:sp>
          <p:nvSpPr>
            <p:cNvPr id="50" name="TextBox 50"/>
            <p:cNvSpPr txBox="1"/>
            <p:nvPr/>
          </p:nvSpPr>
          <p:spPr>
            <a:xfrm>
              <a:off x="6513195" y="4236720"/>
              <a:ext cx="50292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应用类型</a:t>
              </a:r>
            </a:p>
          </p:txBody>
        </p:sp>
        <p:sp>
          <p:nvSpPr>
            <p:cNvPr id="51" name="TextBox 51"/>
            <p:cNvSpPr txBox="1"/>
            <p:nvPr/>
          </p:nvSpPr>
          <p:spPr>
            <a:xfrm>
              <a:off x="6512242" y="4466749"/>
              <a:ext cx="130542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摩托车展会互动展品</a:t>
              </a:r>
            </a:p>
          </p:txBody>
        </p:sp>
        <p:sp>
          <p:nvSpPr>
            <p:cNvPr id="52" name="TextBox 52"/>
            <p:cNvSpPr txBox="1"/>
            <p:nvPr/>
          </p:nvSpPr>
          <p:spPr>
            <a:xfrm>
              <a:off x="6512242" y="4657249"/>
              <a:ext cx="1175409"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品牌发布会体验区</a:t>
              </a:r>
            </a:p>
          </p:txBody>
        </p:sp>
        <p:sp>
          <p:nvSpPr>
            <p:cNvPr id="53" name="TextBox 53"/>
            <p:cNvSpPr txBox="1"/>
            <p:nvPr/>
          </p:nvSpPr>
          <p:spPr>
            <a:xfrm>
              <a:off x="6512242" y="48477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改装店引流设备</a:t>
              </a:r>
            </a:p>
          </p:txBody>
        </p:sp>
        <p:sp>
          <p:nvSpPr>
            <p:cNvPr id="54" name="Rectangle 54"/>
            <p:cNvSpPr/>
            <p:nvPr/>
          </p:nvSpPr>
          <p:spPr>
            <a:xfrm>
              <a:off x="6524625" y="5238750"/>
              <a:ext cx="762000" cy="209550"/>
            </a:xfrm>
            <a:prstGeom prst="roundRect">
              <a:avLst>
                <a:gd name="adj" fmla="val 50000"/>
              </a:avLst>
            </a:prstGeom>
            <a:solidFill>
              <a:srgbClr val="FFFFFF"/>
            </a:solidFill>
            <a:ln w="9525">
              <a:solidFill>
                <a:srgbClr val="10B981"/>
              </a:solidFill>
            </a:ln>
          </p:spPr>
        </p:sp>
        <p:sp>
          <p:nvSpPr>
            <p:cNvPr id="55" name="TextBox 55"/>
            <p:cNvSpPr txBox="1"/>
            <p:nvPr/>
          </p:nvSpPr>
          <p:spPr>
            <a:xfrm>
              <a:off x="6785134" y="5292566"/>
              <a:ext cx="240982" cy="167640"/>
            </a:xfrm>
            <a:prstGeom prst="rect">
              <a:avLst/>
            </a:prstGeom>
            <a:noFill/>
            <a:ln>
              <a:noFill/>
            </a:ln>
          </p:spPr>
          <p:txBody>
            <a:bodyPr wrap="none" lIns="0" tIns="0" rIns="0" bIns="0" anchor="t" anchorCtr="0">
              <a:spAutoFit/>
            </a:bodyPr>
            <a:lstStyle/>
            <a:p>
              <a:pPr algn="ctr"/>
              <a:r>
                <a:rPr lang="zh-CN" sz="825" dirty="0">
                  <a:solidFill>
                    <a:srgbClr val="10B981"/>
                  </a:solidFill>
                  <a:latin typeface="Arial"/>
                  <a:ea typeface="Microsoft YaHei"/>
                  <a:cs typeface="Arial"/>
                </a:rPr>
                <a:t>曝光</a:t>
              </a:r>
            </a:p>
          </p:txBody>
        </p:sp>
        <p:sp>
          <p:nvSpPr>
            <p:cNvPr id="56" name="Rectangle 56"/>
            <p:cNvSpPr/>
            <p:nvPr/>
          </p:nvSpPr>
          <p:spPr>
            <a:xfrm>
              <a:off x="7381875" y="5238750"/>
              <a:ext cx="762000" cy="209550"/>
            </a:xfrm>
            <a:prstGeom prst="roundRect">
              <a:avLst>
                <a:gd name="adj" fmla="val 50000"/>
              </a:avLst>
            </a:prstGeom>
            <a:solidFill>
              <a:srgbClr val="FFFFFF"/>
            </a:solidFill>
            <a:ln w="9525">
              <a:solidFill>
                <a:srgbClr val="10B981"/>
              </a:solidFill>
            </a:ln>
          </p:spPr>
        </p:sp>
        <p:sp>
          <p:nvSpPr>
            <p:cNvPr id="57" name="TextBox 57"/>
            <p:cNvSpPr txBox="1"/>
            <p:nvPr/>
          </p:nvSpPr>
          <p:spPr>
            <a:xfrm>
              <a:off x="7642384" y="5292566"/>
              <a:ext cx="240982" cy="167640"/>
            </a:xfrm>
            <a:prstGeom prst="rect">
              <a:avLst/>
            </a:prstGeom>
            <a:noFill/>
            <a:ln>
              <a:noFill/>
            </a:ln>
          </p:spPr>
          <p:txBody>
            <a:bodyPr wrap="none" lIns="0" tIns="0" rIns="0" bIns="0" anchor="t" anchorCtr="0">
              <a:spAutoFit/>
            </a:bodyPr>
            <a:lstStyle/>
            <a:p>
              <a:pPr algn="ctr"/>
              <a:r>
                <a:rPr lang="zh-CN" sz="825" dirty="0">
                  <a:solidFill>
                    <a:srgbClr val="10B981"/>
                  </a:solidFill>
                  <a:latin typeface="Arial"/>
                  <a:ea typeface="Microsoft YaHei"/>
                  <a:cs typeface="Arial"/>
                </a:rPr>
                <a:t>引流</a:t>
              </a:r>
            </a:p>
          </p:txBody>
        </p:sp>
      </p:grpSp>
      <p:sp>
        <p:nvSpPr>
          <p:cNvPr id="59" name="Rectangle 59"/>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2187988"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OPTIONS &amp; PRICING</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08 / 09</a:t>
            </a:r>
          </a:p>
        </p:txBody>
      </p:sp>
      <p:sp>
        <p:nvSpPr>
          <p:cNvPr id="6" name="Rectangle 6"/>
          <p:cNvSpPr/>
          <p:nvPr/>
        </p:nvSpPr>
        <p:spPr>
          <a:xfrm>
            <a:off x="571500" y="523875"/>
            <a:ext cx="762000" cy="28575"/>
          </a:xfrm>
          <a:prstGeom prst="rect">
            <a:avLst/>
          </a:prstGeom>
          <a:solidFill>
            <a:srgbClr val="2563EB"/>
          </a:solidFill>
          <a:ln>
            <a:noFill/>
          </a:ln>
        </p:spPr>
      </p:sp>
      <p:grpSp>
        <p:nvGrpSpPr>
          <p:cNvPr id="18" name="Group 18"/>
          <p:cNvGrpSpPr/>
          <p:nvPr/>
        </p:nvGrpSpPr>
        <p:grpSpPr>
          <a:xfrm>
            <a:off x="571500" y="857250"/>
            <a:ext cx="3524250" cy="1905000"/>
            <a:chOff x="571500" y="857250"/>
            <a:chExt cx="3524250" cy="1905000"/>
          </a:xfrm>
        </p:grpSpPr>
        <p:sp>
          <p:nvSpPr>
            <p:cNvPr id="7" name="Rectangle 7"/>
            <p:cNvSpPr/>
            <p:nvPr/>
          </p:nvSpPr>
          <p:spPr>
            <a:xfrm>
              <a:off x="571500" y="857250"/>
              <a:ext cx="3524250" cy="1905000"/>
            </a:xfrm>
            <a:prstGeom prst="roundRect">
              <a:avLst>
                <a:gd name="adj" fmla="val 5000"/>
              </a:avLst>
            </a:prstGeom>
            <a:solidFill>
              <a:srgbClr val="F5F7FA"/>
            </a:solidFill>
            <a:ln w="9525">
              <a:solidFill>
                <a:srgbClr val="E5E7EB"/>
              </a:solidFill>
            </a:ln>
          </p:spPr>
        </p:sp>
        <p:sp>
          <p:nvSpPr>
            <p:cNvPr id="8" name="TextBox 8"/>
            <p:cNvSpPr txBox="1"/>
            <p:nvPr/>
          </p:nvSpPr>
          <p:spPr>
            <a:xfrm>
              <a:off x="845820" y="1093470"/>
              <a:ext cx="71294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CATEGORY 01</a:t>
              </a:r>
            </a:p>
          </p:txBody>
        </p:sp>
        <p:sp>
          <p:nvSpPr>
            <p:cNvPr id="9" name="TextBox 9"/>
            <p:cNvSpPr txBox="1"/>
            <p:nvPr/>
          </p:nvSpPr>
          <p:spPr>
            <a:xfrm>
              <a:off x="838200" y="1314450"/>
              <a:ext cx="878205"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Segoe UI"/>
                  <a:ea typeface="SimHei"/>
                  <a:cs typeface="Segoe UI"/>
                </a:rPr>
                <a:t>手柄数量</a:t>
              </a:r>
            </a:p>
          </p:txBody>
        </p:sp>
        <p:sp>
          <p:nvSpPr>
            <p:cNvPr id="10" name="Rectangle 10"/>
            <p:cNvSpPr/>
            <p:nvPr/>
          </p:nvSpPr>
          <p:spPr>
            <a:xfrm>
              <a:off x="857250" y="1666875"/>
              <a:ext cx="2857500" cy="381000"/>
            </a:xfrm>
            <a:prstGeom prst="roundRect">
              <a:avLst>
                <a:gd name="adj" fmla="val 15000"/>
              </a:avLst>
            </a:prstGeom>
            <a:solidFill>
              <a:srgbClr val="FFFFFF"/>
            </a:solidFill>
            <a:ln w="19050">
              <a:solidFill>
                <a:srgbClr val="1E3A5F"/>
              </a:solidFill>
            </a:ln>
          </p:spPr>
        </p:sp>
        <p:sp>
          <p:nvSpPr>
            <p:cNvPr id="11" name="TextBox 11"/>
            <p:cNvSpPr txBox="1"/>
            <p:nvPr/>
          </p:nvSpPr>
          <p:spPr>
            <a:xfrm>
              <a:off x="1034415" y="1791652"/>
              <a:ext cx="61474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Segoe UI"/>
                  <a:ea typeface="SimHei"/>
                  <a:cs typeface="Segoe UI"/>
                </a:rPr>
                <a:t>标准配置</a:t>
              </a:r>
            </a:p>
          </p:txBody>
        </p:sp>
        <p:sp>
          <p:nvSpPr>
            <p:cNvPr id="12" name="TextBox 12"/>
            <p:cNvSpPr txBox="1"/>
            <p:nvPr/>
          </p:nvSpPr>
          <p:spPr>
            <a:xfrm>
              <a:off x="2083118" y="1799749"/>
              <a:ext cx="16778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2P</a:t>
              </a:r>
            </a:p>
          </p:txBody>
        </p:sp>
        <p:sp>
          <p:nvSpPr>
            <p:cNvPr id="13" name="TextBox 13"/>
            <p:cNvSpPr txBox="1"/>
            <p:nvPr/>
          </p:nvSpPr>
          <p:spPr>
            <a:xfrm>
              <a:off x="2466022" y="1815941"/>
              <a:ext cx="461010"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双人对战</a:t>
              </a:r>
            </a:p>
          </p:txBody>
        </p:sp>
        <p:sp>
          <p:nvSpPr>
            <p:cNvPr id="14" name="Rectangle 14"/>
            <p:cNvSpPr/>
            <p:nvPr/>
          </p:nvSpPr>
          <p:spPr>
            <a:xfrm>
              <a:off x="857250" y="2143125"/>
              <a:ext cx="2857500" cy="381000"/>
            </a:xfrm>
            <a:prstGeom prst="roundRect">
              <a:avLst>
                <a:gd name="adj" fmla="val 15000"/>
              </a:avLst>
            </a:prstGeom>
            <a:solidFill>
              <a:srgbClr val="FFFFFF"/>
            </a:solidFill>
            <a:ln w="19050">
              <a:solidFill>
                <a:srgbClr val="2563EB"/>
              </a:solidFill>
            </a:ln>
          </p:spPr>
        </p:sp>
        <p:sp>
          <p:nvSpPr>
            <p:cNvPr id="15" name="TextBox 15"/>
            <p:cNvSpPr txBox="1"/>
            <p:nvPr/>
          </p:nvSpPr>
          <p:spPr>
            <a:xfrm>
              <a:off x="1034415" y="2267902"/>
              <a:ext cx="614744" cy="213360"/>
            </a:xfrm>
            <a:prstGeom prst="rect">
              <a:avLst/>
            </a:prstGeom>
            <a:noFill/>
            <a:ln>
              <a:noFill/>
            </a:ln>
          </p:spPr>
          <p:txBody>
            <a:bodyPr wrap="none" lIns="0" tIns="0" rIns="0" bIns="0" anchor="t" anchorCtr="0">
              <a:spAutoFit/>
            </a:bodyPr>
            <a:lstStyle/>
            <a:p>
              <a:pPr algn="l"/>
              <a:r>
                <a:rPr lang="zh-CN" sz="1050" b="1" dirty="0">
                  <a:solidFill>
                    <a:srgbClr val="2563EB"/>
                  </a:solidFill>
                  <a:latin typeface="Segoe UI"/>
                  <a:ea typeface="SimHei"/>
                  <a:cs typeface="Segoe UI"/>
                </a:rPr>
                <a:t>扩展配置</a:t>
              </a:r>
            </a:p>
          </p:txBody>
        </p:sp>
        <p:sp>
          <p:nvSpPr>
            <p:cNvPr id="16" name="TextBox 16"/>
            <p:cNvSpPr txBox="1"/>
            <p:nvPr/>
          </p:nvSpPr>
          <p:spPr>
            <a:xfrm>
              <a:off x="2083118" y="2275999"/>
              <a:ext cx="239292"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4P+</a:t>
              </a:r>
            </a:p>
          </p:txBody>
        </p:sp>
        <p:sp>
          <p:nvSpPr>
            <p:cNvPr id="17" name="TextBox 17"/>
            <p:cNvSpPr txBox="1"/>
            <p:nvPr/>
          </p:nvSpPr>
          <p:spPr>
            <a:xfrm>
              <a:off x="2466022" y="2292191"/>
              <a:ext cx="461010"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多组扩展</a:t>
              </a:r>
            </a:p>
          </p:txBody>
        </p:sp>
      </p:grpSp>
      <p:grpSp>
        <p:nvGrpSpPr>
          <p:cNvPr id="30" name="Group 30"/>
          <p:cNvGrpSpPr/>
          <p:nvPr/>
        </p:nvGrpSpPr>
        <p:grpSpPr>
          <a:xfrm>
            <a:off x="4286250" y="857250"/>
            <a:ext cx="3524250" cy="1905000"/>
            <a:chOff x="4286250" y="857250"/>
            <a:chExt cx="3524250" cy="1905000"/>
          </a:xfrm>
        </p:grpSpPr>
        <p:sp>
          <p:nvSpPr>
            <p:cNvPr id="19" name="Rectangle 19"/>
            <p:cNvSpPr/>
            <p:nvPr/>
          </p:nvSpPr>
          <p:spPr>
            <a:xfrm>
              <a:off x="4286250" y="857250"/>
              <a:ext cx="3524250" cy="1905000"/>
            </a:xfrm>
            <a:prstGeom prst="roundRect">
              <a:avLst>
                <a:gd name="adj" fmla="val 5000"/>
              </a:avLst>
            </a:prstGeom>
            <a:solidFill>
              <a:srgbClr val="F5F7FA"/>
            </a:solidFill>
            <a:ln w="9525">
              <a:solidFill>
                <a:srgbClr val="E5E7EB"/>
              </a:solidFill>
            </a:ln>
          </p:spPr>
        </p:sp>
        <p:sp>
          <p:nvSpPr>
            <p:cNvPr id="20" name="TextBox 20"/>
            <p:cNvSpPr txBox="1"/>
            <p:nvPr/>
          </p:nvSpPr>
          <p:spPr>
            <a:xfrm>
              <a:off x="4560570" y="1093470"/>
              <a:ext cx="74295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CATEGORY 02</a:t>
              </a:r>
            </a:p>
          </p:txBody>
        </p:sp>
        <p:sp>
          <p:nvSpPr>
            <p:cNvPr id="21" name="TextBox 21"/>
            <p:cNvSpPr txBox="1"/>
            <p:nvPr/>
          </p:nvSpPr>
          <p:spPr>
            <a:xfrm>
              <a:off x="4552950" y="1314450"/>
              <a:ext cx="878205"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Segoe UI"/>
                  <a:ea typeface="SimHei"/>
                  <a:cs typeface="Segoe UI"/>
                </a:rPr>
                <a:t>颜色定制</a:t>
              </a:r>
            </a:p>
          </p:txBody>
        </p:sp>
        <p:sp>
          <p:nvSpPr>
            <p:cNvPr id="22" name="Rectangle 22"/>
            <p:cNvSpPr/>
            <p:nvPr/>
          </p:nvSpPr>
          <p:spPr>
            <a:xfrm>
              <a:off x="4572000" y="1666875"/>
              <a:ext cx="2857500" cy="381000"/>
            </a:xfrm>
            <a:prstGeom prst="roundRect">
              <a:avLst>
                <a:gd name="adj" fmla="val 15000"/>
              </a:avLst>
            </a:prstGeom>
            <a:solidFill>
              <a:srgbClr val="FFFFFF"/>
            </a:solidFill>
            <a:ln w="19050">
              <a:solidFill>
                <a:srgbClr val="10B981"/>
              </a:solidFill>
            </a:ln>
          </p:spPr>
        </p:sp>
        <p:sp>
          <p:nvSpPr>
            <p:cNvPr id="23" name="TextBox 23"/>
            <p:cNvSpPr txBox="1"/>
            <p:nvPr/>
          </p:nvSpPr>
          <p:spPr>
            <a:xfrm>
              <a:off x="4749165" y="1791652"/>
              <a:ext cx="614744"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Segoe UI"/>
                  <a:ea typeface="SimHei"/>
                  <a:cs typeface="Segoe UI"/>
                </a:rPr>
                <a:t>标准配色</a:t>
              </a:r>
            </a:p>
          </p:txBody>
        </p:sp>
        <p:sp>
          <p:nvSpPr>
            <p:cNvPr id="24" name="TextBox 24"/>
            <p:cNvSpPr txBox="1"/>
            <p:nvPr/>
          </p:nvSpPr>
          <p:spPr>
            <a:xfrm>
              <a:off x="5797868" y="1799749"/>
              <a:ext cx="414814"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经典色</a:t>
              </a:r>
            </a:p>
          </p:txBody>
        </p:sp>
        <p:sp>
          <p:nvSpPr>
            <p:cNvPr id="25" name="TextBox 25"/>
            <p:cNvSpPr txBox="1"/>
            <p:nvPr/>
          </p:nvSpPr>
          <p:spPr>
            <a:xfrm>
              <a:off x="6180772" y="1815941"/>
              <a:ext cx="444508"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5 色可选</a:t>
              </a:r>
            </a:p>
          </p:txBody>
        </p:sp>
        <p:sp>
          <p:nvSpPr>
            <p:cNvPr id="26" name="Rectangle 26"/>
            <p:cNvSpPr/>
            <p:nvPr/>
          </p:nvSpPr>
          <p:spPr>
            <a:xfrm>
              <a:off x="4572000" y="2143125"/>
              <a:ext cx="2857500" cy="381000"/>
            </a:xfrm>
            <a:prstGeom prst="roundRect">
              <a:avLst>
                <a:gd name="adj" fmla="val 15000"/>
              </a:avLst>
            </a:prstGeom>
            <a:solidFill>
              <a:srgbClr val="FFFFFF"/>
            </a:solidFill>
            <a:ln w="19050">
              <a:solidFill>
                <a:srgbClr val="EF4444"/>
              </a:solidFill>
            </a:ln>
          </p:spPr>
        </p:sp>
        <p:sp>
          <p:nvSpPr>
            <p:cNvPr id="27" name="TextBox 27"/>
            <p:cNvSpPr txBox="1"/>
            <p:nvPr/>
          </p:nvSpPr>
          <p:spPr>
            <a:xfrm>
              <a:off x="4749165" y="2267902"/>
              <a:ext cx="614744"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Segoe UI"/>
                  <a:ea typeface="SimHei"/>
                  <a:cs typeface="Segoe UI"/>
                </a:rPr>
                <a:t>品牌定制</a:t>
              </a:r>
            </a:p>
          </p:txBody>
        </p:sp>
        <p:sp>
          <p:nvSpPr>
            <p:cNvPr id="28" name="TextBox 28"/>
            <p:cNvSpPr txBox="1"/>
            <p:nvPr/>
          </p:nvSpPr>
          <p:spPr>
            <a:xfrm>
              <a:off x="5797868" y="2275999"/>
              <a:ext cx="362807"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LOGO</a:t>
              </a:r>
            </a:p>
          </p:txBody>
        </p:sp>
        <p:sp>
          <p:nvSpPr>
            <p:cNvPr id="29" name="TextBox 29"/>
            <p:cNvSpPr txBox="1"/>
            <p:nvPr/>
          </p:nvSpPr>
          <p:spPr>
            <a:xfrm>
              <a:off x="6180772" y="2292191"/>
              <a:ext cx="488513"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logo 印刷</a:t>
              </a:r>
            </a:p>
          </p:txBody>
        </p:sp>
      </p:grpSp>
      <p:grpSp>
        <p:nvGrpSpPr>
          <p:cNvPr id="42" name="Group 42"/>
          <p:cNvGrpSpPr/>
          <p:nvPr/>
        </p:nvGrpSpPr>
        <p:grpSpPr>
          <a:xfrm>
            <a:off x="8001000" y="857250"/>
            <a:ext cx="3619500" cy="1905000"/>
            <a:chOff x="8001000" y="857250"/>
            <a:chExt cx="3619500" cy="1905000"/>
          </a:xfrm>
        </p:grpSpPr>
        <p:sp>
          <p:nvSpPr>
            <p:cNvPr id="31" name="Rectangle 31"/>
            <p:cNvSpPr/>
            <p:nvPr/>
          </p:nvSpPr>
          <p:spPr>
            <a:xfrm>
              <a:off x="8001000" y="857250"/>
              <a:ext cx="3619500" cy="1905000"/>
            </a:xfrm>
            <a:prstGeom prst="roundRect">
              <a:avLst>
                <a:gd name="adj" fmla="val 5000"/>
              </a:avLst>
            </a:prstGeom>
            <a:solidFill>
              <a:srgbClr val="F5F7FA"/>
            </a:solidFill>
            <a:ln w="9525">
              <a:solidFill>
                <a:srgbClr val="E5E7EB"/>
              </a:solidFill>
            </a:ln>
          </p:spPr>
        </p:sp>
        <p:sp>
          <p:nvSpPr>
            <p:cNvPr id="32" name="TextBox 32"/>
            <p:cNvSpPr txBox="1"/>
            <p:nvPr/>
          </p:nvSpPr>
          <p:spPr>
            <a:xfrm>
              <a:off x="8275320" y="1093470"/>
              <a:ext cx="74295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CATEGORY 03</a:t>
              </a:r>
            </a:p>
          </p:txBody>
        </p:sp>
        <p:sp>
          <p:nvSpPr>
            <p:cNvPr id="33" name="TextBox 33"/>
            <p:cNvSpPr txBox="1"/>
            <p:nvPr/>
          </p:nvSpPr>
          <p:spPr>
            <a:xfrm>
              <a:off x="8267700" y="1314450"/>
              <a:ext cx="878205"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Segoe UI"/>
                  <a:ea typeface="SimHei"/>
                  <a:cs typeface="Segoe UI"/>
                </a:rPr>
                <a:t>游戏模式</a:t>
              </a:r>
            </a:p>
          </p:txBody>
        </p:sp>
        <p:sp>
          <p:nvSpPr>
            <p:cNvPr id="34" name="Rectangle 34"/>
            <p:cNvSpPr/>
            <p:nvPr/>
          </p:nvSpPr>
          <p:spPr>
            <a:xfrm>
              <a:off x="8286750" y="1666875"/>
              <a:ext cx="3048000" cy="381000"/>
            </a:xfrm>
            <a:prstGeom prst="roundRect">
              <a:avLst>
                <a:gd name="adj" fmla="val 15000"/>
              </a:avLst>
            </a:prstGeom>
            <a:solidFill>
              <a:srgbClr val="FFFFFF"/>
            </a:solidFill>
            <a:ln w="19050">
              <a:solidFill>
                <a:srgbClr val="1E3A5F"/>
              </a:solidFill>
            </a:ln>
          </p:spPr>
        </p:sp>
        <p:sp>
          <p:nvSpPr>
            <p:cNvPr id="35" name="TextBox 35"/>
            <p:cNvSpPr txBox="1"/>
            <p:nvPr/>
          </p:nvSpPr>
          <p:spPr>
            <a:xfrm>
              <a:off x="8463915" y="1791652"/>
              <a:ext cx="61474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Segoe UI"/>
                  <a:ea typeface="SimHei"/>
                  <a:cs typeface="Segoe UI"/>
                </a:rPr>
                <a:t>基础模式</a:t>
              </a:r>
            </a:p>
          </p:txBody>
        </p:sp>
        <p:sp>
          <p:nvSpPr>
            <p:cNvPr id="36" name="TextBox 36"/>
            <p:cNvSpPr txBox="1"/>
            <p:nvPr/>
          </p:nvSpPr>
          <p:spPr>
            <a:xfrm>
              <a:off x="9512618" y="1799749"/>
              <a:ext cx="395311"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3 模式</a:t>
              </a:r>
            </a:p>
          </p:txBody>
        </p:sp>
        <p:sp>
          <p:nvSpPr>
            <p:cNvPr id="37" name="TextBox 37"/>
            <p:cNvSpPr txBox="1"/>
            <p:nvPr/>
          </p:nvSpPr>
          <p:spPr>
            <a:xfrm>
              <a:off x="10086022" y="1815941"/>
              <a:ext cx="587526"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刹车 + 改装</a:t>
              </a:r>
            </a:p>
          </p:txBody>
        </p:sp>
        <p:sp>
          <p:nvSpPr>
            <p:cNvPr id="38" name="Rectangle 38"/>
            <p:cNvSpPr/>
            <p:nvPr/>
          </p:nvSpPr>
          <p:spPr>
            <a:xfrm>
              <a:off x="8286750" y="2143125"/>
              <a:ext cx="3048000" cy="381000"/>
            </a:xfrm>
            <a:prstGeom prst="roundRect">
              <a:avLst>
                <a:gd name="adj" fmla="val 15000"/>
              </a:avLst>
            </a:prstGeom>
            <a:solidFill>
              <a:srgbClr val="FFFFFF"/>
            </a:solidFill>
            <a:ln w="19050">
              <a:solidFill>
                <a:srgbClr val="2563EB"/>
              </a:solidFill>
            </a:ln>
          </p:spPr>
        </p:sp>
        <p:sp>
          <p:nvSpPr>
            <p:cNvPr id="39" name="TextBox 39"/>
            <p:cNvSpPr txBox="1"/>
            <p:nvPr/>
          </p:nvSpPr>
          <p:spPr>
            <a:xfrm>
              <a:off x="8463915" y="2267902"/>
              <a:ext cx="614744" cy="213360"/>
            </a:xfrm>
            <a:prstGeom prst="rect">
              <a:avLst/>
            </a:prstGeom>
            <a:noFill/>
            <a:ln>
              <a:noFill/>
            </a:ln>
          </p:spPr>
          <p:txBody>
            <a:bodyPr wrap="none" lIns="0" tIns="0" rIns="0" bIns="0" anchor="t" anchorCtr="0">
              <a:spAutoFit/>
            </a:bodyPr>
            <a:lstStyle/>
            <a:p>
              <a:pPr algn="l"/>
              <a:r>
                <a:rPr lang="zh-CN" sz="1050" b="1" dirty="0">
                  <a:solidFill>
                    <a:srgbClr val="2563EB"/>
                  </a:solidFill>
                  <a:latin typeface="Segoe UI"/>
                  <a:ea typeface="SimHei"/>
                  <a:cs typeface="Segoe UI"/>
                </a:rPr>
                <a:t>高级定制</a:t>
              </a:r>
            </a:p>
          </p:txBody>
        </p:sp>
        <p:sp>
          <p:nvSpPr>
            <p:cNvPr id="40" name="TextBox 40"/>
            <p:cNvSpPr txBox="1"/>
            <p:nvPr/>
          </p:nvSpPr>
          <p:spPr>
            <a:xfrm>
              <a:off x="9512618" y="2275999"/>
              <a:ext cx="54483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专项游戏</a:t>
              </a:r>
            </a:p>
          </p:txBody>
        </p:sp>
        <p:sp>
          <p:nvSpPr>
            <p:cNvPr id="41" name="TextBox 41"/>
            <p:cNvSpPr txBox="1"/>
            <p:nvPr/>
          </p:nvSpPr>
          <p:spPr>
            <a:xfrm>
              <a:off x="10086022" y="2292191"/>
              <a:ext cx="461010" cy="167640"/>
            </a:xfrm>
            <a:prstGeom prst="rect">
              <a:avLst/>
            </a:prstGeom>
            <a:noFill/>
            <a:ln>
              <a:noFill/>
            </a:ln>
          </p:spPr>
          <p:txBody>
            <a:bodyPr wrap="none" lIns="0" tIns="0" rIns="0" bIns="0" anchor="t" anchorCtr="0">
              <a:spAutoFit/>
            </a:bodyPr>
            <a:lstStyle/>
            <a:p>
              <a:pPr algn="l"/>
              <a:r>
                <a:rPr lang="zh-CN" sz="825" dirty="0">
                  <a:solidFill>
                    <a:srgbClr val="9CA3AF"/>
                  </a:solidFill>
                  <a:latin typeface="Arial"/>
                  <a:ea typeface="Microsoft YaHei"/>
                  <a:cs typeface="Arial"/>
                </a:rPr>
                <a:t>定制开发</a:t>
              </a:r>
            </a:p>
          </p:txBody>
        </p:sp>
      </p:grpSp>
      <p:grpSp>
        <p:nvGrpSpPr>
          <p:cNvPr id="67" name="Group 67"/>
          <p:cNvGrpSpPr/>
          <p:nvPr/>
        </p:nvGrpSpPr>
        <p:grpSpPr>
          <a:xfrm>
            <a:off x="571500" y="2952750"/>
            <a:ext cx="11049000" cy="2667000"/>
            <a:chOff x="571500" y="2952750"/>
            <a:chExt cx="11049000" cy="2667000"/>
          </a:xfrm>
        </p:grpSpPr>
        <p:sp>
          <p:nvSpPr>
            <p:cNvPr id="43" name="Rectangle 43"/>
            <p:cNvSpPr/>
            <p:nvPr/>
          </p:nvSpPr>
          <p:spPr>
            <a:xfrm>
              <a:off x="571500" y="2952750"/>
              <a:ext cx="11049000" cy="2667000"/>
            </a:xfrm>
            <a:prstGeom prst="roundRect">
              <a:avLst>
                <a:gd name="adj" fmla="val 3571"/>
              </a:avLst>
            </a:prstGeom>
            <a:solidFill>
              <a:srgbClr val="F5F7FA"/>
            </a:solidFill>
            <a:ln w="9525">
              <a:solidFill>
                <a:srgbClr val="E5E7EB"/>
              </a:solidFill>
            </a:ln>
          </p:spPr>
        </p:sp>
        <p:sp>
          <p:nvSpPr>
            <p:cNvPr id="44" name="TextBox 44"/>
            <p:cNvSpPr txBox="1"/>
            <p:nvPr/>
          </p:nvSpPr>
          <p:spPr>
            <a:xfrm>
              <a:off x="842010" y="3156585"/>
              <a:ext cx="1038606"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Segoe UI"/>
                  <a:ea typeface="SimHei"/>
                  <a:cs typeface="Segoe UI"/>
                </a:rPr>
                <a:t>配套设备扩展</a:t>
              </a:r>
            </a:p>
          </p:txBody>
        </p:sp>
        <p:grpSp>
          <p:nvGrpSpPr>
            <p:cNvPr id="66" name="Group 66"/>
            <p:cNvGrpSpPr/>
            <p:nvPr/>
          </p:nvGrpSpPr>
          <p:grpSpPr>
            <a:xfrm>
              <a:off x="857250" y="3476625"/>
              <a:ext cx="10668000" cy="1905000"/>
              <a:chOff x="857250" y="3476625"/>
              <a:chExt cx="10668000" cy="1905000"/>
            </a:xfrm>
          </p:grpSpPr>
          <p:sp>
            <p:nvSpPr>
              <p:cNvPr id="45" name="Rectangle 45"/>
              <p:cNvSpPr/>
              <p:nvPr/>
            </p:nvSpPr>
            <p:spPr>
              <a:xfrm>
                <a:off x="857250" y="3476625"/>
                <a:ext cx="3429000" cy="1905000"/>
              </a:xfrm>
              <a:prstGeom prst="roundRect">
                <a:avLst>
                  <a:gd name="adj" fmla="val 4000"/>
                </a:avLst>
              </a:prstGeom>
              <a:solidFill>
                <a:srgbClr val="FFFFFF"/>
              </a:solidFill>
              <a:ln w="9525">
                <a:solidFill>
                  <a:srgbClr val="E5E7EB"/>
                </a:solidFill>
              </a:ln>
            </p:spPr>
          </p:sp>
          <p:sp>
            <p:nvSpPr>
              <p:cNvPr id="46" name="TextBox 46"/>
              <p:cNvSpPr txBox="1"/>
              <p:nvPr/>
            </p:nvSpPr>
            <p:spPr>
              <a:xfrm>
                <a:off x="1034415" y="3649028"/>
                <a:ext cx="61474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Segoe UI"/>
                    <a:ea typeface="SimHei"/>
                    <a:cs typeface="Segoe UI"/>
                  </a:rPr>
                  <a:t>显示设备</a:t>
                </a:r>
              </a:p>
            </p:txBody>
          </p:sp>
          <p:sp>
            <p:nvSpPr>
              <p:cNvPr id="47" name="TextBox 47"/>
              <p:cNvSpPr txBox="1"/>
              <p:nvPr/>
            </p:nvSpPr>
            <p:spPr>
              <a:xfrm>
                <a:off x="1037272" y="3911441"/>
                <a:ext cx="35099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分辨率</a:t>
                </a:r>
              </a:p>
            </p:txBody>
          </p:sp>
          <p:sp>
            <p:nvSpPr>
              <p:cNvPr id="48" name="TextBox 48"/>
              <p:cNvSpPr txBox="1"/>
              <p:nvPr/>
            </p:nvSpPr>
            <p:spPr>
              <a:xfrm>
                <a:off x="1035368" y="4085749"/>
                <a:ext cx="10518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1080P / 4K 可选</a:t>
                </a:r>
              </a:p>
            </p:txBody>
          </p:sp>
          <p:sp>
            <p:nvSpPr>
              <p:cNvPr id="49" name="TextBox 49"/>
              <p:cNvSpPr txBox="1"/>
              <p:nvPr/>
            </p:nvSpPr>
            <p:spPr>
              <a:xfrm>
                <a:off x="1035368" y="4276249"/>
                <a:ext cx="973884"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HDMI 直连输出</a:t>
                </a:r>
              </a:p>
            </p:txBody>
          </p:sp>
          <p:sp>
            <p:nvSpPr>
              <p:cNvPr id="50" name="TextBox 50"/>
              <p:cNvSpPr txBox="1"/>
              <p:nvPr/>
            </p:nvSpPr>
            <p:spPr>
              <a:xfrm>
                <a:off x="1035368" y="4466749"/>
                <a:ext cx="915376"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投影设备支持</a:t>
                </a:r>
              </a:p>
            </p:txBody>
          </p:sp>
          <p:sp>
            <p:nvSpPr>
              <p:cNvPr id="51" name="TextBox 51"/>
              <p:cNvSpPr txBox="1"/>
              <p:nvPr/>
            </p:nvSpPr>
            <p:spPr>
              <a:xfrm>
                <a:off x="1037272" y="4816316"/>
                <a:ext cx="134112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适合场景: 比赛投屏 / 演示</a:t>
                </a:r>
              </a:p>
            </p:txBody>
          </p:sp>
          <p:sp>
            <p:nvSpPr>
              <p:cNvPr id="52" name="Rectangle 52"/>
              <p:cNvSpPr/>
              <p:nvPr/>
            </p:nvSpPr>
            <p:spPr>
              <a:xfrm>
                <a:off x="4476750" y="3476625"/>
                <a:ext cx="3429000" cy="1905000"/>
              </a:xfrm>
              <a:prstGeom prst="roundRect">
                <a:avLst>
                  <a:gd name="adj" fmla="val 4000"/>
                </a:avLst>
              </a:prstGeom>
              <a:solidFill>
                <a:srgbClr val="FFFFFF"/>
              </a:solidFill>
              <a:ln w="9525">
                <a:solidFill>
                  <a:srgbClr val="E5E7EB"/>
                </a:solidFill>
              </a:ln>
            </p:spPr>
          </p:sp>
          <p:sp>
            <p:nvSpPr>
              <p:cNvPr id="53" name="TextBox 53"/>
              <p:cNvSpPr txBox="1"/>
              <p:nvPr/>
            </p:nvSpPr>
            <p:spPr>
              <a:xfrm>
                <a:off x="4653915" y="3649028"/>
                <a:ext cx="761762"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Segoe UI"/>
                    <a:ea typeface="SimHei"/>
                    <a:cs typeface="Segoe UI"/>
                  </a:rPr>
                  <a:t>排行榜系统</a:t>
                </a:r>
              </a:p>
            </p:txBody>
          </p:sp>
          <p:sp>
            <p:nvSpPr>
              <p:cNvPr id="54" name="TextBox 54"/>
              <p:cNvSpPr txBox="1"/>
              <p:nvPr/>
            </p:nvSpPr>
            <p:spPr>
              <a:xfrm>
                <a:off x="4656772" y="3911441"/>
                <a:ext cx="46101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功能特性</a:t>
                </a:r>
              </a:p>
            </p:txBody>
          </p:sp>
          <p:sp>
            <p:nvSpPr>
              <p:cNvPr id="55" name="TextBox 55"/>
              <p:cNvSpPr txBox="1"/>
              <p:nvPr/>
            </p:nvSpPr>
            <p:spPr>
              <a:xfrm>
                <a:off x="4654868" y="4085749"/>
                <a:ext cx="915376"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实时成绩排名</a:t>
                </a:r>
              </a:p>
            </p:txBody>
          </p:sp>
          <p:sp>
            <p:nvSpPr>
              <p:cNvPr id="56" name="TextBox 56"/>
              <p:cNvSpPr txBox="1"/>
              <p:nvPr/>
            </p:nvSpPr>
            <p:spPr>
              <a:xfrm>
                <a:off x="4654868" y="4276249"/>
                <a:ext cx="915376"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历史数据查询</a:t>
                </a:r>
              </a:p>
            </p:txBody>
          </p:sp>
          <p:sp>
            <p:nvSpPr>
              <p:cNvPr id="57" name="TextBox 57"/>
              <p:cNvSpPr txBox="1"/>
              <p:nvPr/>
            </p:nvSpPr>
            <p:spPr>
              <a:xfrm>
                <a:off x="4654868" y="44667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二维码扫码查看</a:t>
                </a:r>
              </a:p>
            </p:txBody>
          </p:sp>
          <p:sp>
            <p:nvSpPr>
              <p:cNvPr id="58" name="TextBox 58"/>
              <p:cNvSpPr txBox="1"/>
              <p:nvPr/>
            </p:nvSpPr>
            <p:spPr>
              <a:xfrm>
                <a:off x="4656772" y="4816316"/>
                <a:ext cx="1231106"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适合场景: 电竞馆 / 活动</a:t>
                </a:r>
              </a:p>
            </p:txBody>
          </p:sp>
          <p:sp>
            <p:nvSpPr>
              <p:cNvPr id="59" name="Rectangle 59"/>
              <p:cNvSpPr/>
              <p:nvPr/>
            </p:nvSpPr>
            <p:spPr>
              <a:xfrm>
                <a:off x="8096250" y="3476625"/>
                <a:ext cx="3429000" cy="1905000"/>
              </a:xfrm>
              <a:prstGeom prst="roundRect">
                <a:avLst>
                  <a:gd name="adj" fmla="val 4000"/>
                </a:avLst>
              </a:prstGeom>
              <a:solidFill>
                <a:srgbClr val="FFFFFF"/>
              </a:solidFill>
              <a:ln w="9525">
                <a:solidFill>
                  <a:srgbClr val="E5E7EB"/>
                </a:solidFill>
              </a:ln>
            </p:spPr>
          </p:sp>
          <p:sp>
            <p:nvSpPr>
              <p:cNvPr id="60" name="TextBox 60"/>
              <p:cNvSpPr txBox="1"/>
              <p:nvPr/>
            </p:nvSpPr>
            <p:spPr>
              <a:xfrm>
                <a:off x="8273415" y="3649028"/>
                <a:ext cx="61474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Segoe UI"/>
                    <a:ea typeface="SimHei"/>
                    <a:cs typeface="Segoe UI"/>
                  </a:rPr>
                  <a:t>扫码系统</a:t>
                </a:r>
              </a:p>
            </p:txBody>
          </p:sp>
          <p:sp>
            <p:nvSpPr>
              <p:cNvPr id="61" name="TextBox 61"/>
              <p:cNvSpPr txBox="1"/>
              <p:nvPr/>
            </p:nvSpPr>
            <p:spPr>
              <a:xfrm>
                <a:off x="8276272" y="3911441"/>
                <a:ext cx="461010"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系统集成</a:t>
                </a:r>
              </a:p>
            </p:txBody>
          </p:sp>
          <p:sp>
            <p:nvSpPr>
              <p:cNvPr id="62" name="TextBox 62"/>
              <p:cNvSpPr txBox="1"/>
              <p:nvPr/>
            </p:nvSpPr>
            <p:spPr>
              <a:xfrm>
                <a:off x="8274368" y="4085749"/>
                <a:ext cx="78536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三维码扫描</a:t>
                </a:r>
              </a:p>
            </p:txBody>
          </p:sp>
          <p:sp>
            <p:nvSpPr>
              <p:cNvPr id="63" name="TextBox 63"/>
              <p:cNvSpPr txBox="1"/>
              <p:nvPr/>
            </p:nvSpPr>
            <p:spPr>
              <a:xfrm>
                <a:off x="8274368" y="4276249"/>
                <a:ext cx="915376"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积分自动累计</a:t>
                </a:r>
              </a:p>
            </p:txBody>
          </p:sp>
          <p:sp>
            <p:nvSpPr>
              <p:cNvPr id="64" name="TextBox 64"/>
              <p:cNvSpPr txBox="1"/>
              <p:nvPr/>
            </p:nvSpPr>
            <p:spPr>
              <a:xfrm>
                <a:off x="8274368" y="4466749"/>
                <a:ext cx="1045393"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 排行榜同步显示</a:t>
                </a:r>
              </a:p>
            </p:txBody>
          </p:sp>
          <p:sp>
            <p:nvSpPr>
              <p:cNvPr id="65" name="TextBox 65"/>
              <p:cNvSpPr txBox="1"/>
              <p:nvPr/>
            </p:nvSpPr>
            <p:spPr>
              <a:xfrm>
                <a:off x="8276272" y="4816316"/>
                <a:ext cx="994577" cy="167640"/>
              </a:xfrm>
              <a:prstGeom prst="rect">
                <a:avLst/>
              </a:prstGeom>
              <a:noFill/>
              <a:ln>
                <a:noFill/>
              </a:ln>
            </p:spPr>
            <p:txBody>
              <a:bodyPr wrap="none" lIns="0" tIns="0" rIns="0" bIns="0" anchor="t" anchorCtr="0">
                <a:spAutoFit/>
              </a:bodyPr>
              <a:lstStyle/>
              <a:p>
                <a:pPr algn="l"/>
                <a:r>
                  <a:rPr lang="zh-CN" sz="825" dirty="0">
                    <a:solidFill>
                      <a:srgbClr val="6B7280"/>
                    </a:solidFill>
                    <a:latin typeface="Arial"/>
                    <a:ea typeface="Microsoft YaHei"/>
                    <a:cs typeface="Arial"/>
                  </a:rPr>
                  <a:t>适合场景: 线下体验</a:t>
                </a:r>
              </a:p>
            </p:txBody>
          </p:sp>
        </p:grpSp>
      </p:grpSp>
      <p:sp>
        <p:nvSpPr>
          <p:cNvPr id="68" name="Rectangle 68"/>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57150" cy="6858000"/>
          </a:xfrm>
          <a:prstGeom prst="rect">
            <a:avLst/>
          </a:prstGeom>
          <a:solidFill>
            <a:srgbClr val="1E3A5F"/>
          </a:solidFill>
          <a:ln>
            <a:noFill/>
          </a:ln>
        </p:spPr>
      </p:sp>
      <p:sp>
        <p:nvSpPr>
          <p:cNvPr id="4" name="TextBox 4"/>
          <p:cNvSpPr txBox="1"/>
          <p:nvPr/>
        </p:nvSpPr>
        <p:spPr>
          <a:xfrm>
            <a:off x="548640" y="234315"/>
            <a:ext cx="1646120"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Segoe UI"/>
                <a:ea typeface="SimHei"/>
                <a:cs typeface="Segoe UI"/>
              </a:rPr>
              <a:t>DELIVERABLES</a:t>
            </a:r>
          </a:p>
        </p:txBody>
      </p:sp>
      <p:sp>
        <p:nvSpPr>
          <p:cNvPr id="5" name="TextBox 5"/>
          <p:cNvSpPr txBox="1"/>
          <p:nvPr/>
        </p:nvSpPr>
        <p:spPr>
          <a:xfrm>
            <a:off x="10826020" y="331470"/>
            <a:ext cx="424910" cy="182880"/>
          </a:xfrm>
          <a:prstGeom prst="rect">
            <a:avLst/>
          </a:prstGeom>
          <a:noFill/>
          <a:ln>
            <a:noFill/>
          </a:ln>
        </p:spPr>
        <p:txBody>
          <a:bodyPr wrap="none" lIns="0" tIns="0" rIns="0" bIns="0" anchor="t" anchorCtr="0">
            <a:spAutoFit/>
          </a:bodyPr>
          <a:lstStyle/>
          <a:p>
            <a:pPr algn="r"/>
            <a:r>
              <a:rPr lang="zh-CN" sz="900" dirty="0">
                <a:solidFill>
                  <a:srgbClr val="9CA3AF"/>
                </a:solidFill>
                <a:latin typeface="Arial"/>
                <a:ea typeface="Microsoft YaHei"/>
                <a:cs typeface="Arial"/>
              </a:rPr>
              <a:t>09 / 09</a:t>
            </a:r>
          </a:p>
        </p:txBody>
      </p:sp>
      <p:sp>
        <p:nvSpPr>
          <p:cNvPr id="6" name="Rectangle 6"/>
          <p:cNvSpPr/>
          <p:nvPr/>
        </p:nvSpPr>
        <p:spPr>
          <a:xfrm>
            <a:off x="571500" y="523875"/>
            <a:ext cx="762000" cy="28575"/>
          </a:xfrm>
          <a:prstGeom prst="rect">
            <a:avLst/>
          </a:prstGeom>
          <a:solidFill>
            <a:srgbClr val="2563EB"/>
          </a:solidFill>
          <a:ln>
            <a:noFill/>
          </a:ln>
        </p:spPr>
      </p:sp>
      <p:grpSp>
        <p:nvGrpSpPr>
          <p:cNvPr id="50" name="Group 50"/>
          <p:cNvGrpSpPr/>
          <p:nvPr/>
        </p:nvGrpSpPr>
        <p:grpSpPr>
          <a:xfrm>
            <a:off x="571500" y="857250"/>
            <a:ext cx="10668000" cy="4286250"/>
            <a:chOff x="571500" y="857250"/>
            <a:chExt cx="10668000" cy="4286250"/>
          </a:xfrm>
        </p:grpSpPr>
        <p:grpSp>
          <p:nvGrpSpPr>
            <p:cNvPr id="14" name="Group 14"/>
            <p:cNvGrpSpPr/>
            <p:nvPr/>
          </p:nvGrpSpPr>
          <p:grpSpPr>
            <a:xfrm>
              <a:off x="571500" y="857250"/>
              <a:ext cx="5238750" cy="1428750"/>
              <a:chOff x="571500" y="857250"/>
              <a:chExt cx="5238750" cy="1428750"/>
            </a:xfrm>
          </p:grpSpPr>
          <p:sp>
            <p:nvSpPr>
              <p:cNvPr id="7" name="Rectangle 7"/>
              <p:cNvSpPr/>
              <p:nvPr/>
            </p:nvSpPr>
            <p:spPr>
              <a:xfrm>
                <a:off x="571500" y="857250"/>
                <a:ext cx="5238750" cy="1428750"/>
              </a:xfrm>
              <a:prstGeom prst="roundRect">
                <a:avLst>
                  <a:gd name="adj" fmla="val 6667"/>
                </a:avLst>
              </a:prstGeom>
              <a:solidFill>
                <a:srgbClr val="F5F7FA"/>
              </a:solidFill>
              <a:ln w="9525">
                <a:solidFill>
                  <a:srgbClr val="E5E7EB"/>
                </a:solidFill>
              </a:ln>
            </p:spPr>
          </p:sp>
          <p:sp>
            <p:nvSpPr>
              <p:cNvPr id="8" name="Rectangle 8"/>
              <p:cNvSpPr/>
              <p:nvPr/>
            </p:nvSpPr>
            <p:spPr>
              <a:xfrm>
                <a:off x="571500" y="857250"/>
                <a:ext cx="57150" cy="1428750"/>
              </a:xfrm>
              <a:prstGeom prst="roundRect">
                <a:avLst>
                  <a:gd name="adj" fmla="val 50000"/>
                </a:avLst>
              </a:prstGeom>
              <a:solidFill>
                <a:srgbClr val="1E3A5F"/>
              </a:solidFill>
              <a:ln>
                <a:noFill/>
              </a:ln>
            </p:spPr>
          </p:sp>
          <p:sp>
            <p:nvSpPr>
              <p:cNvPr id="9" name="TextBox 9"/>
              <p:cNvSpPr txBox="1"/>
              <p:nvPr/>
            </p:nvSpPr>
            <p:spPr>
              <a:xfrm>
                <a:off x="830580" y="963930"/>
                <a:ext cx="303271" cy="426720"/>
              </a:xfrm>
              <a:prstGeom prst="rect">
                <a:avLst/>
              </a:prstGeom>
              <a:noFill/>
              <a:ln>
                <a:noFill/>
              </a:ln>
            </p:spPr>
            <p:txBody>
              <a:bodyPr wrap="none" lIns="0" tIns="0" rIns="0" bIns="0" anchor="t" anchorCtr="0">
                <a:spAutoFit/>
              </a:bodyPr>
              <a:lstStyle/>
              <a:p>
                <a:pPr algn="l"/>
                <a:r>
                  <a:rPr lang="zh-CN" sz="2100" b="1" dirty="0">
                    <a:solidFill>
                      <a:srgbClr val="1E3A5F"/>
                    </a:solidFill>
                    <a:latin typeface="Arial"/>
                    <a:ea typeface="Microsoft YaHei"/>
                    <a:cs typeface="Arial"/>
                  </a:rPr>
                  <a:t>01</a:t>
                </a:r>
              </a:p>
            </p:txBody>
          </p:sp>
          <p:sp>
            <p:nvSpPr>
              <p:cNvPr id="10" name="TextBox 10"/>
              <p:cNvSpPr txBox="1"/>
              <p:nvPr/>
            </p:nvSpPr>
            <p:spPr>
              <a:xfrm>
                <a:off x="1316355" y="1044892"/>
                <a:ext cx="790384" cy="274320"/>
              </a:xfrm>
              <a:prstGeom prst="rect">
                <a:avLst/>
              </a:prstGeom>
              <a:noFill/>
              <a:ln>
                <a:noFill/>
              </a:ln>
            </p:spPr>
            <p:txBody>
              <a:bodyPr wrap="none" lIns="0" tIns="0" rIns="0" bIns="0" anchor="t" anchorCtr="0">
                <a:spAutoFit/>
              </a:bodyPr>
              <a:lstStyle/>
              <a:p>
                <a:pPr algn="l"/>
                <a:r>
                  <a:rPr lang="zh-CN" sz="1350" b="1" dirty="0">
                    <a:solidFill>
                      <a:srgbClr val="1F2937"/>
                    </a:solidFill>
                    <a:latin typeface="Segoe UI"/>
                    <a:ea typeface="SimHei"/>
                    <a:cs typeface="Segoe UI"/>
                  </a:rPr>
                  <a:t>硬件套件</a:t>
                </a:r>
              </a:p>
            </p:txBody>
          </p:sp>
          <p:sp>
            <p:nvSpPr>
              <p:cNvPr id="11" name="TextBox 11"/>
              <p:cNvSpPr txBox="1"/>
              <p:nvPr/>
            </p:nvSpPr>
            <p:spPr>
              <a:xfrm>
                <a:off x="845820" y="1379220"/>
                <a:ext cx="132502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Arduino Pro Micro × 1</a:t>
                </a:r>
              </a:p>
            </p:txBody>
          </p:sp>
          <p:sp>
            <p:nvSpPr>
              <p:cNvPr id="12" name="TextBox 12"/>
              <p:cNvSpPr txBox="1"/>
              <p:nvPr/>
            </p:nvSpPr>
            <p:spPr>
              <a:xfrm>
                <a:off x="845820" y="1617345"/>
                <a:ext cx="94697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3D 打印支座 × 1</a:t>
                </a:r>
              </a:p>
            </p:txBody>
          </p:sp>
          <p:sp>
            <p:nvSpPr>
              <p:cNvPr id="13" name="TextBox 13"/>
              <p:cNvSpPr txBox="1"/>
              <p:nvPr/>
            </p:nvSpPr>
            <p:spPr>
              <a:xfrm>
                <a:off x="845820" y="1855470"/>
                <a:ext cx="149304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霍尔传感器 × 2 (AH3505)</a:t>
                </a:r>
              </a:p>
            </p:txBody>
          </p:sp>
        </p:grpSp>
        <p:grpSp>
          <p:nvGrpSpPr>
            <p:cNvPr id="22" name="Group 22"/>
            <p:cNvGrpSpPr/>
            <p:nvPr/>
          </p:nvGrpSpPr>
          <p:grpSpPr>
            <a:xfrm>
              <a:off x="6000750" y="857250"/>
              <a:ext cx="5238750" cy="1428750"/>
              <a:chOff x="6000750" y="857250"/>
              <a:chExt cx="5238750" cy="1428750"/>
            </a:xfrm>
          </p:grpSpPr>
          <p:sp>
            <p:nvSpPr>
              <p:cNvPr id="15" name="Rectangle 15"/>
              <p:cNvSpPr/>
              <p:nvPr/>
            </p:nvSpPr>
            <p:spPr>
              <a:xfrm>
                <a:off x="6000750" y="857250"/>
                <a:ext cx="5238750" cy="1428750"/>
              </a:xfrm>
              <a:prstGeom prst="roundRect">
                <a:avLst>
                  <a:gd name="adj" fmla="val 6667"/>
                </a:avLst>
              </a:prstGeom>
              <a:solidFill>
                <a:srgbClr val="F5F7FA"/>
              </a:solidFill>
              <a:ln w="9525">
                <a:solidFill>
                  <a:srgbClr val="E5E7EB"/>
                </a:solidFill>
              </a:ln>
            </p:spPr>
          </p:sp>
          <p:sp>
            <p:nvSpPr>
              <p:cNvPr id="16" name="Rectangle 16"/>
              <p:cNvSpPr/>
              <p:nvPr/>
            </p:nvSpPr>
            <p:spPr>
              <a:xfrm>
                <a:off x="6000750" y="857250"/>
                <a:ext cx="57150" cy="1428750"/>
              </a:xfrm>
              <a:prstGeom prst="roundRect">
                <a:avLst>
                  <a:gd name="adj" fmla="val 50000"/>
                </a:avLst>
              </a:prstGeom>
              <a:solidFill>
                <a:srgbClr val="2563EB"/>
              </a:solidFill>
              <a:ln>
                <a:noFill/>
              </a:ln>
            </p:spPr>
          </p:sp>
          <p:sp>
            <p:nvSpPr>
              <p:cNvPr id="17" name="TextBox 17"/>
              <p:cNvSpPr txBox="1"/>
              <p:nvPr/>
            </p:nvSpPr>
            <p:spPr>
              <a:xfrm>
                <a:off x="6259830" y="963930"/>
                <a:ext cx="376780" cy="426720"/>
              </a:xfrm>
              <a:prstGeom prst="rect">
                <a:avLst/>
              </a:prstGeom>
              <a:noFill/>
              <a:ln>
                <a:noFill/>
              </a:ln>
            </p:spPr>
            <p:txBody>
              <a:bodyPr wrap="none" lIns="0" tIns="0" rIns="0" bIns="0" anchor="t" anchorCtr="0">
                <a:spAutoFit/>
              </a:bodyPr>
              <a:lstStyle/>
              <a:p>
                <a:pPr algn="l"/>
                <a:r>
                  <a:rPr lang="zh-CN" sz="2100" b="1" dirty="0">
                    <a:solidFill>
                      <a:srgbClr val="2563EB"/>
                    </a:solidFill>
                    <a:latin typeface="Arial"/>
                    <a:ea typeface="Microsoft YaHei"/>
                    <a:cs typeface="Arial"/>
                  </a:rPr>
                  <a:t>02</a:t>
                </a:r>
              </a:p>
            </p:txBody>
          </p:sp>
          <p:sp>
            <p:nvSpPr>
              <p:cNvPr id="18" name="TextBox 18"/>
              <p:cNvSpPr txBox="1"/>
              <p:nvPr/>
            </p:nvSpPr>
            <p:spPr>
              <a:xfrm>
                <a:off x="6745605" y="1044892"/>
                <a:ext cx="790384" cy="274320"/>
              </a:xfrm>
              <a:prstGeom prst="rect">
                <a:avLst/>
              </a:prstGeom>
              <a:noFill/>
              <a:ln>
                <a:noFill/>
              </a:ln>
            </p:spPr>
            <p:txBody>
              <a:bodyPr wrap="none" lIns="0" tIns="0" rIns="0" bIns="0" anchor="t" anchorCtr="0">
                <a:spAutoFit/>
              </a:bodyPr>
              <a:lstStyle/>
              <a:p>
                <a:pPr algn="l"/>
                <a:r>
                  <a:rPr lang="zh-CN" sz="1350" b="1" dirty="0">
                    <a:solidFill>
                      <a:srgbClr val="1F2937"/>
                    </a:solidFill>
                    <a:latin typeface="Segoe UI"/>
                    <a:ea typeface="SimHei"/>
                    <a:cs typeface="Segoe UI"/>
                  </a:rPr>
                  <a:t>软件系统</a:t>
                </a:r>
              </a:p>
            </p:txBody>
          </p:sp>
          <p:sp>
            <p:nvSpPr>
              <p:cNvPr id="19" name="TextBox 19"/>
              <p:cNvSpPr txBox="1"/>
              <p:nvPr/>
            </p:nvSpPr>
            <p:spPr>
              <a:xfrm>
                <a:off x="6275070" y="1379220"/>
                <a:ext cx="832961"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Arduino 固件</a:t>
                </a:r>
              </a:p>
            </p:txBody>
          </p:sp>
          <p:sp>
            <p:nvSpPr>
              <p:cNvPr id="20" name="TextBox 20"/>
              <p:cNvSpPr txBox="1"/>
              <p:nvPr/>
            </p:nvSpPr>
            <p:spPr>
              <a:xfrm>
                <a:off x="6275070" y="1617345"/>
                <a:ext cx="68894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HID 驱动层</a:t>
                </a:r>
              </a:p>
            </p:txBody>
          </p:sp>
          <p:sp>
            <p:nvSpPr>
              <p:cNvPr id="21" name="TextBox 21"/>
              <p:cNvSpPr txBox="1"/>
              <p:nvPr/>
            </p:nvSpPr>
            <p:spPr>
              <a:xfrm>
                <a:off x="6275070" y="1855470"/>
                <a:ext cx="60493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配置工具</a:t>
                </a:r>
              </a:p>
            </p:txBody>
          </p:sp>
        </p:grpSp>
        <p:grpSp>
          <p:nvGrpSpPr>
            <p:cNvPr id="30" name="Group 30"/>
            <p:cNvGrpSpPr/>
            <p:nvPr/>
          </p:nvGrpSpPr>
          <p:grpSpPr>
            <a:xfrm>
              <a:off x="571500" y="2428875"/>
              <a:ext cx="5238750" cy="1428750"/>
              <a:chOff x="571500" y="2428875"/>
              <a:chExt cx="5238750" cy="1428750"/>
            </a:xfrm>
          </p:grpSpPr>
          <p:sp>
            <p:nvSpPr>
              <p:cNvPr id="23" name="Rectangle 23"/>
              <p:cNvSpPr/>
              <p:nvPr/>
            </p:nvSpPr>
            <p:spPr>
              <a:xfrm>
                <a:off x="571500" y="2428875"/>
                <a:ext cx="5238750" cy="1428750"/>
              </a:xfrm>
              <a:prstGeom prst="roundRect">
                <a:avLst>
                  <a:gd name="adj" fmla="val 6667"/>
                </a:avLst>
              </a:prstGeom>
              <a:solidFill>
                <a:srgbClr val="F5F7FA"/>
              </a:solidFill>
              <a:ln w="9525">
                <a:solidFill>
                  <a:srgbClr val="E5E7EB"/>
                </a:solidFill>
              </a:ln>
            </p:spPr>
          </p:sp>
          <p:sp>
            <p:nvSpPr>
              <p:cNvPr id="24" name="Rectangle 24"/>
              <p:cNvSpPr/>
              <p:nvPr/>
            </p:nvSpPr>
            <p:spPr>
              <a:xfrm>
                <a:off x="571500" y="2428875"/>
                <a:ext cx="57150" cy="1428750"/>
              </a:xfrm>
              <a:prstGeom prst="roundRect">
                <a:avLst>
                  <a:gd name="adj" fmla="val 50000"/>
                </a:avLst>
              </a:prstGeom>
              <a:solidFill>
                <a:srgbClr val="10B981"/>
              </a:solidFill>
              <a:ln>
                <a:noFill/>
              </a:ln>
            </p:spPr>
          </p:sp>
          <p:sp>
            <p:nvSpPr>
              <p:cNvPr id="25" name="TextBox 25"/>
              <p:cNvSpPr txBox="1"/>
              <p:nvPr/>
            </p:nvSpPr>
            <p:spPr>
              <a:xfrm>
                <a:off x="830580" y="2535555"/>
                <a:ext cx="376780" cy="426720"/>
              </a:xfrm>
              <a:prstGeom prst="rect">
                <a:avLst/>
              </a:prstGeom>
              <a:noFill/>
              <a:ln>
                <a:noFill/>
              </a:ln>
            </p:spPr>
            <p:txBody>
              <a:bodyPr wrap="none" lIns="0" tIns="0" rIns="0" bIns="0" anchor="t" anchorCtr="0">
                <a:spAutoFit/>
              </a:bodyPr>
              <a:lstStyle/>
              <a:p>
                <a:pPr algn="l"/>
                <a:r>
                  <a:rPr lang="zh-CN" sz="2100" b="1" dirty="0">
                    <a:solidFill>
                      <a:srgbClr val="10B981"/>
                    </a:solidFill>
                    <a:latin typeface="Arial"/>
                    <a:ea typeface="Microsoft YaHei"/>
                    <a:cs typeface="Arial"/>
                  </a:rPr>
                  <a:t>03</a:t>
                </a:r>
              </a:p>
            </p:txBody>
          </p:sp>
          <p:sp>
            <p:nvSpPr>
              <p:cNvPr id="26" name="TextBox 26"/>
              <p:cNvSpPr txBox="1"/>
              <p:nvPr/>
            </p:nvSpPr>
            <p:spPr>
              <a:xfrm>
                <a:off x="1316355" y="2616518"/>
                <a:ext cx="601361" cy="274320"/>
              </a:xfrm>
              <a:prstGeom prst="rect">
                <a:avLst/>
              </a:prstGeom>
              <a:noFill/>
              <a:ln>
                <a:noFill/>
              </a:ln>
            </p:spPr>
            <p:txBody>
              <a:bodyPr wrap="none" lIns="0" tIns="0" rIns="0" bIns="0" anchor="t" anchorCtr="0">
                <a:spAutoFit/>
              </a:bodyPr>
              <a:lstStyle/>
              <a:p>
                <a:pPr algn="l"/>
                <a:r>
                  <a:rPr lang="zh-CN" sz="1350" b="1" dirty="0">
                    <a:solidFill>
                      <a:srgbClr val="1F2937"/>
                    </a:solidFill>
                    <a:latin typeface="Segoe UI"/>
                    <a:ea typeface="SimHei"/>
                    <a:cs typeface="Segoe UI"/>
                  </a:rPr>
                  <a:t>配件包</a:t>
                </a:r>
              </a:p>
            </p:txBody>
          </p:sp>
          <p:sp>
            <p:nvSpPr>
              <p:cNvPr id="27" name="TextBox 27"/>
              <p:cNvSpPr txBox="1"/>
              <p:nvPr/>
            </p:nvSpPr>
            <p:spPr>
              <a:xfrm>
                <a:off x="845820" y="2950845"/>
                <a:ext cx="60493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磁铁套装</a:t>
                </a:r>
              </a:p>
            </p:txBody>
          </p:sp>
          <p:sp>
            <p:nvSpPr>
              <p:cNvPr id="28" name="TextBox 28"/>
              <p:cNvSpPr txBox="1"/>
              <p:nvPr/>
            </p:nvSpPr>
            <p:spPr>
              <a:xfrm>
                <a:off x="845820" y="3188970"/>
                <a:ext cx="718947"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USB 连接线</a:t>
                </a:r>
              </a:p>
            </p:txBody>
          </p:sp>
          <p:sp>
            <p:nvSpPr>
              <p:cNvPr id="29" name="TextBox 29"/>
              <p:cNvSpPr txBox="1"/>
              <p:nvPr/>
            </p:nvSpPr>
            <p:spPr>
              <a:xfrm>
                <a:off x="845820" y="3427095"/>
                <a:ext cx="8629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螺丝包 / 扎带</a:t>
                </a:r>
              </a:p>
            </p:txBody>
          </p:sp>
        </p:grpSp>
        <p:grpSp>
          <p:nvGrpSpPr>
            <p:cNvPr id="38" name="Group 38"/>
            <p:cNvGrpSpPr/>
            <p:nvPr/>
          </p:nvGrpSpPr>
          <p:grpSpPr>
            <a:xfrm>
              <a:off x="6000750" y="2428875"/>
              <a:ext cx="5238750" cy="1428750"/>
              <a:chOff x="6000750" y="2428875"/>
              <a:chExt cx="5238750" cy="1428750"/>
            </a:xfrm>
          </p:grpSpPr>
          <p:sp>
            <p:nvSpPr>
              <p:cNvPr id="31" name="Rectangle 31"/>
              <p:cNvSpPr/>
              <p:nvPr/>
            </p:nvSpPr>
            <p:spPr>
              <a:xfrm>
                <a:off x="6000750" y="2428875"/>
                <a:ext cx="5238750" cy="1428750"/>
              </a:xfrm>
              <a:prstGeom prst="roundRect">
                <a:avLst>
                  <a:gd name="adj" fmla="val 6667"/>
                </a:avLst>
              </a:prstGeom>
              <a:solidFill>
                <a:srgbClr val="F5F7FA"/>
              </a:solidFill>
              <a:ln w="9525">
                <a:solidFill>
                  <a:srgbClr val="E5E7EB"/>
                </a:solidFill>
              </a:ln>
            </p:spPr>
          </p:sp>
          <p:sp>
            <p:nvSpPr>
              <p:cNvPr id="32" name="Rectangle 32"/>
              <p:cNvSpPr/>
              <p:nvPr/>
            </p:nvSpPr>
            <p:spPr>
              <a:xfrm>
                <a:off x="6000750" y="2428875"/>
                <a:ext cx="57150" cy="1428750"/>
              </a:xfrm>
              <a:prstGeom prst="roundRect">
                <a:avLst>
                  <a:gd name="adj" fmla="val 50000"/>
                </a:avLst>
              </a:prstGeom>
              <a:solidFill>
                <a:srgbClr val="3B82F6"/>
              </a:solidFill>
              <a:ln>
                <a:noFill/>
              </a:ln>
            </p:spPr>
          </p:sp>
          <p:sp>
            <p:nvSpPr>
              <p:cNvPr id="33" name="TextBox 33"/>
              <p:cNvSpPr txBox="1"/>
              <p:nvPr/>
            </p:nvSpPr>
            <p:spPr>
              <a:xfrm>
                <a:off x="6259830" y="2535555"/>
                <a:ext cx="376780" cy="426720"/>
              </a:xfrm>
              <a:prstGeom prst="rect">
                <a:avLst/>
              </a:prstGeom>
              <a:noFill/>
              <a:ln>
                <a:noFill/>
              </a:ln>
            </p:spPr>
            <p:txBody>
              <a:bodyPr wrap="none" lIns="0" tIns="0" rIns="0" bIns="0" anchor="t" anchorCtr="0">
                <a:spAutoFit/>
              </a:bodyPr>
              <a:lstStyle/>
              <a:p>
                <a:pPr algn="l"/>
                <a:r>
                  <a:rPr lang="zh-CN" sz="2100" b="1" dirty="0">
                    <a:solidFill>
                      <a:srgbClr val="3B82F6"/>
                    </a:solidFill>
                    <a:latin typeface="Arial"/>
                    <a:ea typeface="Microsoft YaHei"/>
                    <a:cs typeface="Arial"/>
                  </a:rPr>
                  <a:t>04</a:t>
                </a:r>
              </a:p>
            </p:txBody>
          </p:sp>
          <p:sp>
            <p:nvSpPr>
              <p:cNvPr id="34" name="TextBox 34"/>
              <p:cNvSpPr txBox="1"/>
              <p:nvPr/>
            </p:nvSpPr>
            <p:spPr>
              <a:xfrm>
                <a:off x="6745605" y="2616518"/>
                <a:ext cx="790384" cy="274320"/>
              </a:xfrm>
              <a:prstGeom prst="rect">
                <a:avLst/>
              </a:prstGeom>
              <a:noFill/>
              <a:ln>
                <a:noFill/>
              </a:ln>
            </p:spPr>
            <p:txBody>
              <a:bodyPr wrap="none" lIns="0" tIns="0" rIns="0" bIns="0" anchor="t" anchorCtr="0">
                <a:spAutoFit/>
              </a:bodyPr>
              <a:lstStyle/>
              <a:p>
                <a:pPr algn="l"/>
                <a:r>
                  <a:rPr lang="zh-CN" sz="1350" b="1" dirty="0">
                    <a:solidFill>
                      <a:srgbClr val="1F2937"/>
                    </a:solidFill>
                    <a:latin typeface="Segoe UI"/>
                    <a:ea typeface="SimHei"/>
                    <a:cs typeface="Segoe UI"/>
                  </a:rPr>
                  <a:t>文档资料</a:t>
                </a:r>
              </a:p>
            </p:txBody>
          </p:sp>
          <p:sp>
            <p:nvSpPr>
              <p:cNvPr id="35" name="TextBox 35"/>
              <p:cNvSpPr txBox="1"/>
              <p:nvPr/>
            </p:nvSpPr>
            <p:spPr>
              <a:xfrm>
                <a:off x="6275070" y="2950845"/>
                <a:ext cx="724948"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安装说明书</a:t>
                </a:r>
              </a:p>
            </p:txBody>
          </p:sp>
          <p:sp>
            <p:nvSpPr>
              <p:cNvPr id="36" name="TextBox 36"/>
              <p:cNvSpPr txBox="1"/>
              <p:nvPr/>
            </p:nvSpPr>
            <p:spPr>
              <a:xfrm>
                <a:off x="6275070" y="3188970"/>
                <a:ext cx="8449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固件升级指南</a:t>
                </a:r>
              </a:p>
            </p:txBody>
          </p:sp>
          <p:sp>
            <p:nvSpPr>
              <p:cNvPr id="37" name="TextBox 37"/>
              <p:cNvSpPr txBox="1"/>
              <p:nvPr/>
            </p:nvSpPr>
            <p:spPr>
              <a:xfrm>
                <a:off x="6275070" y="3427095"/>
                <a:ext cx="8449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常见问题解答</a:t>
                </a:r>
              </a:p>
            </p:txBody>
          </p:sp>
        </p:grpSp>
        <p:grpSp>
          <p:nvGrpSpPr>
            <p:cNvPr id="49" name="Group 49"/>
            <p:cNvGrpSpPr/>
            <p:nvPr/>
          </p:nvGrpSpPr>
          <p:grpSpPr>
            <a:xfrm>
              <a:off x="571500" y="4000500"/>
              <a:ext cx="10668000" cy="1143000"/>
              <a:chOff x="571500" y="4000500"/>
              <a:chExt cx="10668000" cy="1143000"/>
            </a:xfrm>
          </p:grpSpPr>
          <p:sp>
            <p:nvSpPr>
              <p:cNvPr id="39" name="Rectangle 39"/>
              <p:cNvSpPr/>
              <p:nvPr/>
            </p:nvSpPr>
            <p:spPr>
              <a:xfrm>
                <a:off x="571500" y="4000500"/>
                <a:ext cx="10668000" cy="1143000"/>
              </a:xfrm>
              <a:prstGeom prst="roundRect">
                <a:avLst>
                  <a:gd name="adj" fmla="val 8333"/>
                </a:avLst>
              </a:prstGeom>
              <a:solidFill>
                <a:srgbClr val="F5F7FA"/>
              </a:solidFill>
              <a:ln w="9525">
                <a:solidFill>
                  <a:srgbClr val="E5E7EB"/>
                </a:solidFill>
              </a:ln>
            </p:spPr>
          </p:sp>
          <p:sp>
            <p:nvSpPr>
              <p:cNvPr id="40" name="Rectangle 40"/>
              <p:cNvSpPr/>
              <p:nvPr/>
            </p:nvSpPr>
            <p:spPr>
              <a:xfrm>
                <a:off x="571500" y="4000500"/>
                <a:ext cx="57150" cy="1143000"/>
              </a:xfrm>
              <a:prstGeom prst="roundRect">
                <a:avLst>
                  <a:gd name="adj" fmla="val 50000"/>
                </a:avLst>
              </a:prstGeom>
              <a:solidFill>
                <a:srgbClr val="EF4444"/>
              </a:solidFill>
              <a:ln>
                <a:noFill/>
              </a:ln>
            </p:spPr>
          </p:sp>
          <p:sp>
            <p:nvSpPr>
              <p:cNvPr id="41" name="TextBox 41"/>
              <p:cNvSpPr txBox="1"/>
              <p:nvPr/>
            </p:nvSpPr>
            <p:spPr>
              <a:xfrm>
                <a:off x="840105" y="4188142"/>
                <a:ext cx="1055018" cy="274320"/>
              </a:xfrm>
              <a:prstGeom prst="rect">
                <a:avLst/>
              </a:prstGeom>
              <a:noFill/>
              <a:ln>
                <a:noFill/>
              </a:ln>
            </p:spPr>
            <p:txBody>
              <a:bodyPr wrap="none" lIns="0" tIns="0" rIns="0" bIns="0" anchor="t" anchorCtr="0">
                <a:spAutoFit/>
              </a:bodyPr>
              <a:lstStyle/>
              <a:p>
                <a:pPr algn="l"/>
                <a:r>
                  <a:rPr lang="zh-CN" sz="1350" b="1" dirty="0">
                    <a:solidFill>
                      <a:srgbClr val="1F2937"/>
                    </a:solidFill>
                    <a:latin typeface="Segoe UI"/>
                    <a:ea typeface="SimHei"/>
                    <a:cs typeface="Segoe UI"/>
                  </a:rPr>
                  <a:t>05 售后服务</a:t>
                </a:r>
              </a:p>
            </p:txBody>
          </p:sp>
          <p:grpSp>
            <p:nvGrpSpPr>
              <p:cNvPr id="48" name="Group 48"/>
              <p:cNvGrpSpPr/>
              <p:nvPr/>
            </p:nvGrpSpPr>
            <p:grpSpPr>
              <a:xfrm>
                <a:off x="845820" y="4617720"/>
                <a:ext cx="4387977" cy="468630"/>
                <a:chOff x="845820" y="4617720"/>
                <a:chExt cx="4387977" cy="468630"/>
              </a:xfrm>
            </p:grpSpPr>
            <p:sp>
              <p:nvSpPr>
                <p:cNvPr id="42" name="TextBox 42"/>
                <p:cNvSpPr txBox="1"/>
                <p:nvPr/>
              </p:nvSpPr>
              <p:spPr>
                <a:xfrm>
                  <a:off x="845820" y="4617720"/>
                  <a:ext cx="1373029"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在线技术支持 (微信群)</a:t>
                  </a:r>
                </a:p>
              </p:txBody>
            </p:sp>
            <p:sp>
              <p:nvSpPr>
                <p:cNvPr id="43" name="TextBox 43"/>
                <p:cNvSpPr txBox="1"/>
                <p:nvPr/>
              </p:nvSpPr>
              <p:spPr>
                <a:xfrm>
                  <a:off x="2560320" y="4617720"/>
                  <a:ext cx="8449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固件持续更新</a:t>
                  </a:r>
                </a:p>
              </p:txBody>
            </p:sp>
            <p:sp>
              <p:nvSpPr>
                <p:cNvPr id="44" name="TextBox 44"/>
                <p:cNvSpPr txBox="1"/>
                <p:nvPr/>
              </p:nvSpPr>
              <p:spPr>
                <a:xfrm>
                  <a:off x="4274820" y="4617720"/>
                  <a:ext cx="60493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一年质保</a:t>
                  </a:r>
                </a:p>
              </p:txBody>
            </p:sp>
            <p:sp>
              <p:nvSpPr>
                <p:cNvPr id="45" name="TextBox 45"/>
                <p:cNvSpPr txBox="1"/>
                <p:nvPr/>
              </p:nvSpPr>
              <p:spPr>
                <a:xfrm>
                  <a:off x="845820" y="4903470"/>
                  <a:ext cx="8449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定制开发服务</a:t>
                  </a:r>
                </a:p>
              </p:txBody>
            </p:sp>
            <p:sp>
              <p:nvSpPr>
                <p:cNvPr id="46" name="TextBox 46"/>
                <p:cNvSpPr txBox="1"/>
                <p:nvPr/>
              </p:nvSpPr>
              <p:spPr>
                <a:xfrm>
                  <a:off x="2560320" y="4903470"/>
                  <a:ext cx="84496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批量采购折扣</a:t>
                  </a:r>
                </a:p>
              </p:txBody>
            </p:sp>
            <p:sp>
              <p:nvSpPr>
                <p:cNvPr id="47" name="TextBox 47"/>
                <p:cNvSpPr txBox="1"/>
                <p:nvPr/>
              </p:nvSpPr>
              <p:spPr>
                <a:xfrm>
                  <a:off x="4274820" y="4903470"/>
                  <a:ext cx="958977"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 OEM/ODM 支持</a:t>
                  </a:r>
                </a:p>
              </p:txBody>
            </p:sp>
          </p:grpSp>
        </p:grpSp>
      </p:grpSp>
      <p:grpSp>
        <p:nvGrpSpPr>
          <p:cNvPr id="57" name="Group 57"/>
          <p:cNvGrpSpPr/>
          <p:nvPr/>
        </p:nvGrpSpPr>
        <p:grpSpPr>
          <a:xfrm>
            <a:off x="571500" y="4476750"/>
            <a:ext cx="11049000" cy="1428750"/>
            <a:chOff x="571500" y="4476750"/>
            <a:chExt cx="11049000" cy="1428750"/>
          </a:xfrm>
        </p:grpSpPr>
        <p:sp>
          <p:nvSpPr>
            <p:cNvPr id="51" name="Rectangle 51"/>
            <p:cNvSpPr/>
            <p:nvPr/>
          </p:nvSpPr>
          <p:spPr>
            <a:xfrm>
              <a:off x="571500" y="4476750"/>
              <a:ext cx="11049000" cy="1428750"/>
            </a:xfrm>
            <a:prstGeom prst="roundRect">
              <a:avLst>
                <a:gd name="adj" fmla="val 6667"/>
              </a:avLst>
            </a:prstGeom>
            <a:solidFill>
              <a:srgbClr val="1E3A5F"/>
            </a:solidFill>
            <a:ln>
              <a:noFill/>
            </a:ln>
          </p:spPr>
        </p:sp>
        <p:sp>
          <p:nvSpPr>
            <p:cNvPr id="52" name="TextBox 52"/>
            <p:cNvSpPr txBox="1"/>
            <p:nvPr/>
          </p:nvSpPr>
          <p:spPr>
            <a:xfrm>
              <a:off x="1120140" y="4758690"/>
              <a:ext cx="105384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SimHei"/>
                  <a:cs typeface="Segoe UI"/>
                </a:rPr>
                <a:t>联系购买</a:t>
              </a:r>
            </a:p>
          </p:txBody>
        </p:sp>
        <p:sp>
          <p:nvSpPr>
            <p:cNvPr id="53" name="TextBox 53"/>
            <p:cNvSpPr txBox="1"/>
            <p:nvPr/>
          </p:nvSpPr>
          <p:spPr>
            <a:xfrm>
              <a:off x="1130618" y="5133499"/>
              <a:ext cx="1597962" cy="198120"/>
            </a:xfrm>
            <a:prstGeom prst="rect">
              <a:avLst/>
            </a:prstGeom>
            <a:noFill/>
            <a:ln>
              <a:noFill/>
            </a:ln>
          </p:spPr>
          <p:txBody>
            <a:bodyPr wrap="none" lIns="0" tIns="0" rIns="0" bIns="0" anchor="t" anchorCtr="0">
              <a:spAutoFit/>
            </a:bodyPr>
            <a:lstStyle/>
            <a:p>
              <a:pPr algn="l"/>
              <a:r>
                <a:rPr lang="zh-CN" sz="975" dirty="0">
                  <a:solidFill>
                    <a:srgbClr val="CADCFC"/>
                  </a:solidFill>
                  <a:latin typeface="Arial"/>
                  <a:ea typeface="Microsoft YaHei"/>
                  <a:cs typeface="Arial"/>
                </a:rPr>
                <a:t>微信添加请注明"刹车手把"</a:t>
              </a:r>
            </a:p>
          </p:txBody>
        </p:sp>
        <p:sp>
          <p:nvSpPr>
            <p:cNvPr id="54" name="TextBox 54"/>
            <p:cNvSpPr txBox="1"/>
            <p:nvPr/>
          </p:nvSpPr>
          <p:spPr>
            <a:xfrm>
              <a:off x="1130618" y="5371624"/>
              <a:ext cx="1045393" cy="198120"/>
            </a:xfrm>
            <a:prstGeom prst="rect">
              <a:avLst/>
            </a:prstGeom>
            <a:noFill/>
            <a:ln>
              <a:noFill/>
            </a:ln>
          </p:spPr>
          <p:txBody>
            <a:bodyPr wrap="none" lIns="0" tIns="0" rIns="0" bIns="0" anchor="t" anchorCtr="0">
              <a:spAutoFit/>
            </a:bodyPr>
            <a:lstStyle/>
            <a:p>
              <a:pPr algn="l"/>
              <a:r>
                <a:rPr lang="zh-CN" sz="975" dirty="0">
                  <a:solidFill>
                    <a:srgbClr val="CADCFC"/>
                  </a:solidFill>
                  <a:latin typeface="Arial"/>
                  <a:ea typeface="Microsoft YaHei"/>
                  <a:cs typeface="Arial"/>
                </a:rPr>
                <a:t>微信号: 商家提供</a:t>
              </a:r>
            </a:p>
          </p:txBody>
        </p:sp>
        <p:sp>
          <p:nvSpPr>
            <p:cNvPr id="55" name="Rectangle 55"/>
            <p:cNvSpPr/>
            <p:nvPr/>
          </p:nvSpPr>
          <p:spPr>
            <a:xfrm>
              <a:off x="1143000" y="5619750"/>
              <a:ext cx="952500" cy="266700"/>
            </a:xfrm>
            <a:prstGeom prst="roundRect">
              <a:avLst>
                <a:gd name="adj" fmla="val 50000"/>
              </a:avLst>
            </a:prstGeom>
            <a:solidFill>
              <a:srgbClr val="2563EB"/>
            </a:solidFill>
            <a:ln>
              <a:noFill/>
            </a:ln>
          </p:spPr>
        </p:sp>
        <p:sp>
          <p:nvSpPr>
            <p:cNvPr id="56" name="TextBox 56"/>
            <p:cNvSpPr txBox="1"/>
            <p:nvPr/>
          </p:nvSpPr>
          <p:spPr>
            <a:xfrm>
              <a:off x="1367790" y="5703570"/>
              <a:ext cx="50292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联系咨询</a:t>
              </a:r>
            </a:p>
          </p:txBody>
        </p:sp>
      </p:grpSp>
      <p:sp>
        <p:nvSpPr>
          <p:cNvPr id="58" name="Rectangle 58"/>
          <p:cNvSpPr/>
          <p:nvPr/>
        </p:nvSpPr>
        <p:spPr>
          <a:xfrm>
            <a:off x="571500" y="6286500"/>
            <a:ext cx="11049000" cy="9525"/>
          </a:xfrm>
          <a:prstGeom prst="rect">
            <a:avLst/>
          </a:prstGeom>
          <a:solidFill>
            <a:srgbClr val="E5E7EB"/>
          </a:solidFill>
          <a:ln>
            <a:noFill/>
          </a:ln>
        </p:spPr>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image">
                                      <p:cBhvr>
                                        <p:cTn id="19" dur="400"/>
                                        <p:tgtEl>
                                          <p:spTgt spid="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400"/>
                                        <p:tgtEl>
                                          <p:spTgt spid="50"/>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slide(fromBottom)">
                                      <p:cBhvr>
                                        <p:cTn id="31" dur="400"/>
                                        <p:tgtEl>
                                          <p:spTgt spid="57"/>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image">
                                      <p:cBhvr>
                                        <p:cTn id="35"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50" grpId="0"/>
      <p:bldP spid="57" grpId="0"/>
      <p:bldP spid="5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